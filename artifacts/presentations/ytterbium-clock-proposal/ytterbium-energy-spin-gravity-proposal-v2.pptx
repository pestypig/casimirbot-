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0ef49377ef4f47" /><Relationship Type="http://schemas.openxmlformats.org/officeDocument/2006/relationships/extended-properties" Target="/docProps/app.xml" Id="Rc8d0910de3204e41" /><Relationship Type="http://schemas.openxmlformats.org/officeDocument/2006/relationships/officeDocument" Target="/ppt/presentation.xml" Id="R19da1a18b6614d8e" /></Relationships>
</file>

<file path=ppt/presentation.xml><?xml version="1.0" encoding="utf-8"?>
<p:presentation xmlns:p="http://schemas.openxmlformats.org/presentationml/2006/main">
  <p:sldMasterIdLst>
    <p:sldMasterId xmlns:r="http://schemas.openxmlformats.org/officeDocument/2006/relationships" id="2147483648" r:id="R52cffb03065d4584"/>
  </p:sldMasterIdLst>
  <p:notesMasterIdLst>
    <p:notesMasterId xmlns:r="http://schemas.openxmlformats.org/officeDocument/2006/relationships" r:id="R20a6f81abf364979"/>
  </p:notesMasterIdLst>
  <p:sldIdLst>
    <p:sldId xmlns:r="http://schemas.openxmlformats.org/officeDocument/2006/relationships" id="256" r:id="R98690e0e5b164856"/>
    <p:sldId xmlns:r="http://schemas.openxmlformats.org/officeDocument/2006/relationships" id="257" r:id="R6ee31e0404d84bd7"/>
    <p:sldId xmlns:r="http://schemas.openxmlformats.org/officeDocument/2006/relationships" id="258" r:id="R790f5bbd17084a22"/>
    <p:sldId xmlns:r="http://schemas.openxmlformats.org/officeDocument/2006/relationships" id="259" r:id="R6ee3b3efd6ab45a2"/>
    <p:sldId xmlns:r="http://schemas.openxmlformats.org/officeDocument/2006/relationships" id="260" r:id="R90181a156bad43fb"/>
    <p:sldId xmlns:r="http://schemas.openxmlformats.org/officeDocument/2006/relationships" id="261" r:id="R79c474b0f7264895"/>
    <p:sldId xmlns:r="http://schemas.openxmlformats.org/officeDocument/2006/relationships" id="262" r:id="R99fd42047b5d4800"/>
    <p:sldId xmlns:r="http://schemas.openxmlformats.org/officeDocument/2006/relationships" id="263" r:id="R82b7334eaae44a26"/>
    <p:sldId xmlns:r="http://schemas.openxmlformats.org/officeDocument/2006/relationships" id="264" r:id="R242474cafa044e3c"/>
    <p:sldId xmlns:r="http://schemas.openxmlformats.org/officeDocument/2006/relationships" id="265" r:id="R7f00b4921fc5477b"/>
    <p:sldId xmlns:r="http://schemas.openxmlformats.org/officeDocument/2006/relationships" id="266" r:id="R3e78b206fc5f4e2d"/>
    <p:sldId xmlns:r="http://schemas.openxmlformats.org/officeDocument/2006/relationships" id="267" r:id="R52a9ecfc4d374a26"/>
    <p:sldId xmlns:r="http://schemas.openxmlformats.org/officeDocument/2006/relationships" id="268" r:id="R4cb93e13a7ca4f43"/>
    <p:sldId xmlns:r="http://schemas.openxmlformats.org/officeDocument/2006/relationships" id="269" r:id="R8176c7f4df3a4c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657e3f99fc4d0d" /><Relationship Type="http://schemas.openxmlformats.org/officeDocument/2006/relationships/slideMaster" Target="/ppt/slideMasters/slideMaster1.xml" Id="R52cffb03065d4584" /><Relationship Type="http://schemas.openxmlformats.org/officeDocument/2006/relationships/notesMaster" Target="/ppt/notesMasters/notesMaster1.xml" Id="R20a6f81abf364979" /><Relationship Type="http://schemas.openxmlformats.org/officeDocument/2006/relationships/presProps" Target="/ppt/presProps.xml" Id="Ra094c98433584b55" /><Relationship Type="http://schemas.openxmlformats.org/officeDocument/2006/relationships/tableStyles" Target="/ppt/tableStyles.xml" Id="R59cc283a110e4443" /><Relationship Type="http://schemas.openxmlformats.org/officeDocument/2006/relationships/slide" Target="/ppt/slides/slide1.xml" Id="R98690e0e5b164856" /><Relationship Type="http://schemas.openxmlformats.org/officeDocument/2006/relationships/slide" Target="/ppt/slides/slide2.xml" Id="R6ee31e0404d84bd7" /><Relationship Type="http://schemas.openxmlformats.org/officeDocument/2006/relationships/slide" Target="/ppt/slides/slide3.xml" Id="R790f5bbd17084a22" /><Relationship Type="http://schemas.openxmlformats.org/officeDocument/2006/relationships/slide" Target="/ppt/slides/slide4.xml" Id="R6ee3b3efd6ab45a2" /><Relationship Type="http://schemas.openxmlformats.org/officeDocument/2006/relationships/slide" Target="/ppt/slides/slide5.xml" Id="R90181a156bad43fb" /><Relationship Type="http://schemas.openxmlformats.org/officeDocument/2006/relationships/slide" Target="/ppt/slides/slide6.xml" Id="R79c474b0f7264895" /><Relationship Type="http://schemas.openxmlformats.org/officeDocument/2006/relationships/slide" Target="/ppt/slides/slide7.xml" Id="R99fd42047b5d4800" /><Relationship Type="http://schemas.openxmlformats.org/officeDocument/2006/relationships/slide" Target="/ppt/slides/slide8.xml" Id="R82b7334eaae44a26" /><Relationship Type="http://schemas.openxmlformats.org/officeDocument/2006/relationships/slide" Target="/ppt/slides/slide9.xml" Id="R242474cafa044e3c" /><Relationship Type="http://schemas.openxmlformats.org/officeDocument/2006/relationships/slide" Target="/ppt/slides/slide10.xml" Id="R7f00b4921fc5477b" /><Relationship Type="http://schemas.openxmlformats.org/officeDocument/2006/relationships/slide" Target="/ppt/slides/slide11.xml" Id="R3e78b206fc5f4e2d" /><Relationship Type="http://schemas.openxmlformats.org/officeDocument/2006/relationships/slide" Target="/ppt/slides/slide12.xml" Id="R52a9ecfc4d374a26" /><Relationship Type="http://schemas.openxmlformats.org/officeDocument/2006/relationships/slide" Target="/ppt/slides/slide13.xml" Id="R4cb93e13a7ca4f43" /><Relationship Type="http://schemas.openxmlformats.org/officeDocument/2006/relationships/slide" Target="/ppt/slides/slide14.xml" Id="R8176c7f4df3a4c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1bbc90753149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05ba2d697c40b9" /><Relationship Type="http://schemas.openxmlformats.org/officeDocument/2006/relationships/notesMaster" Target="/ppt/notesMasters/notesMaster1.xml" Id="Rc27db0ff778245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1a94f5e14f44b0" /><Relationship Type="http://schemas.openxmlformats.org/officeDocument/2006/relationships/notesMaster" Target="/ppt/notesMasters/notesMaster1.xml" Id="R84c38e19d5c94c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ff743771db48b0" /><Relationship Type="http://schemas.openxmlformats.org/officeDocument/2006/relationships/notesMaster" Target="/ppt/notesMasters/notesMaster1.xml" Id="Rb3be656e510047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f0712567f14476" /><Relationship Type="http://schemas.openxmlformats.org/officeDocument/2006/relationships/notesMaster" Target="/ppt/notesMasters/notesMaster1.xml" Id="R6510ea947c4646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18b752a2f24f03" /><Relationship Type="http://schemas.openxmlformats.org/officeDocument/2006/relationships/notesMaster" Target="/ppt/notesMasters/notesMaster1.xml" Id="Ra8815dc6dd4842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e016e452aa4b62" /><Relationship Type="http://schemas.openxmlformats.org/officeDocument/2006/relationships/notesMaster" Target="/ppt/notesMasters/notesMaster1.xml" Id="R2cc34ce162794f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3c9317ac7c4446" /><Relationship Type="http://schemas.openxmlformats.org/officeDocument/2006/relationships/notesMaster" Target="/ppt/notesMasters/notesMaster1.xml" Id="Rf9e6743c439641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2f2be40f55443d" /><Relationship Type="http://schemas.openxmlformats.org/officeDocument/2006/relationships/notesMaster" Target="/ppt/notesMasters/notesMaster1.xml" Id="Red330d18189f43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d192dbfbae4aca" /><Relationship Type="http://schemas.openxmlformats.org/officeDocument/2006/relationships/notesMaster" Target="/ppt/notesMasters/notesMaster1.xml" Id="R50b8414e8aa249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b4b6e5d0684b60" /><Relationship Type="http://schemas.openxmlformats.org/officeDocument/2006/relationships/notesMaster" Target="/ppt/notesMasters/notesMaster1.xml" Id="R6276fe7a01c448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736d8d682e466a" /><Relationship Type="http://schemas.openxmlformats.org/officeDocument/2006/relationships/notesMaster" Target="/ppt/notesMasters/notesMaster1.xml" Id="Rc1ae821cf54f41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dc0cb3f9bd4cba" /><Relationship Type="http://schemas.openxmlformats.org/officeDocument/2006/relationships/notesMaster" Target="/ppt/notesMasters/notesMaster1.xml" Id="Rc4bc1738d1fd47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419df957ff4a04" /><Relationship Type="http://schemas.openxmlformats.org/officeDocument/2006/relationships/notesMaster" Target="/ppt/notesMasters/notesMaster1.xml" Id="R834c04a278d042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571ce86ec948b9" /><Relationship Type="http://schemas.openxmlformats.org/officeDocument/2006/relationships/notesMaster" Target="/ppt/notesMasters/notesMaster1.xml" Id="R1e94518287224a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and analytic design only. Generated conceptual illustration; it does not depict a built apparatus.</a:t>
            </a:r>
          </a:p>
          <a:p xmlns:a="http://schemas.openxmlformats.org/drawingml/2006/main">
            <a:r>
              <a:t>https://chatgpt.com/share/6ab672dc-e820-83ea-a2a5-26643690422a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https://chatgpt.com/share/6ab672dc-e820-83ea-a2a5-26643690422a</a:t>
            </a:r>
          </a:p>
          <a:p xmlns:a="http://schemas.openxmlformats.org/drawingml/2006/main">
            <a:r>
              <a:t>https://www.nature.com/articles/s41534-024-00898-7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 1 is generated from the shared calculation report with BIPM frequency, g=9.80665 m/s², and leading-order ΔU≈gΔz. Rounded display values are checked against source rows: [{"heightDifferenceM":0.01,"potentialDifferenceM2S2":0.0980665,"fractionalRateDifference":1.0911369672198218e-18,"frequencyDifferenceHz":0.0005655317472604153,"phaseRateRadS":0.0035533407651302407,"phaseAfterOneSecondRad":0.0035533407651302407,"secondsForHalfRadian":140.71265129047467},{"heightDifferenceM":1,"potentialDifferenceM2S2":9.80665,"fractionalRateDifference":1.0911369672198217e-16,"frequencyDifferenceHz":0.05655317472604152,"phaseRateRadS":0.355334076513024,"phaseAfterOneSecondRad":0.355334076513024,"secondsForHalfRadian":1.407126512904747},{"heightDifferenceM":10,"potentialDifferenceM2S2":98.06649999999999,"fractionalRateDifference":1.0911369672198216e-15,"frequencyDifferenceHz":0.5655317472604152,"phaseRateRadS":3.55334076513024,"phaseAfterOneSecondRad":3.55334076513024,"secondsForHalfRadian":0.1407126512904747},{"heightDifferenceM":100,"potentialDifferenceM2S2":980.665,"fractionalRateDifference":1.0911369672198217e-14,"frequencyDifferenceHz":5.655317472604152,"phaseRateRadS":35.533407651302404,"phaseAfterOneSecondRad":35.533407651302404,"secondsForHalfRadian":0.014071265129047468},{"heightDifferenceM":450,"potentialDifferenceM2S2":4412.992499999999,"fractionalRateDifference":4.910116352489197e-14,"frequencyDifferenceHz":25.448928626718683,"phaseRateRadS":159.9003344308608,"phaseAfterOneSecondRad":159.9003344308608,"secondsForHalfRadian":0.003126947806454993}]</a:t>
            </a:r>
          </a:p>
          <a:p xmlns:a="http://schemas.openxmlformats.org/drawingml/2006/main">
            <a:r>
              <a:t>https://www.bipm.org/documents/20126/288516347/171Yb_518THz_2025/73007ecc-49f5-4d1d-d8ee-6793a4748598</a:t>
            </a:r>
          </a:p>
          <a:p xmlns:a="http://schemas.openxmlformats.org/drawingml/2006/main">
            <a:r>
              <a:t>https://chatgpt.com/share/6ab672dc-e820-83ea-a2a5-26643690422a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 of Tokyo primary press release reports 450 m and (1.4 ± 9.1)×10⁻⁵.</a:t>
            </a:r>
          </a:p>
          <a:p xmlns:a="http://schemas.openxmlformats.org/drawingml/2006/main">
            <a:r>
              <a:t>https://www.t.u-tokyo.ac.jp/en/press/foee/press/setnws_202004071409047419337571.html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https://www.nature.com/articles/s41586-022-05088-z</a:t>
            </a:r>
          </a:p>
          <a:p xmlns:a="http://schemas.openxmlformats.org/drawingml/2006/main">
            <a:r>
              <a:t>https://chatgpt.com/share/6ab672dc-e820-83ea-a2a5-26643690422a</a:t>
            </a:r>
          </a:p>
          <a:p xmlns:a="http://schemas.openxmlformats.org/drawingml/2006/main">
            <a:r>
              <a:t>The full building-scale Yb-171 implementation is proposed, not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 2 is produced from the project calculation report. Exact rows: [{"heightDifferenceM":10,"potentialDifferenceM2S2":98.06649999999999,"fractionalRateDifference":1.0911369672198216e-15,"frequencyDifferenceHz":0.5655317472604152,"phaseRateRadS":3.55334076513024,"phaseAfterOneSecondRad":3.55334076513024,"secondsForHalfRadian":0.1407126512904747},{"heightDifferenceM":100,"potentialDifferenceM2S2":980.665,"fractionalRateDifference":1.0911369672198217e-14,"frequencyDifferenceHz":5.655317472604152,"phaseRateRadS":35.533407651302404,"phaseAfterOneSecondRad":35.533407651302404,"secondsForHalfRadian":0.014071265129047468}]</a:t>
            </a:r>
          </a:p>
          <a:p xmlns:a="http://schemas.openxmlformats.org/drawingml/2006/main">
            <a:r>
              <a:t>https://www.bipm.org/documents/20126/288516347/171Yb_518THz_2025/73007ecc-49f5-4d1d-d8ee-6793a4748598</a:t>
            </a:r>
          </a:p>
          <a:p xmlns:a="http://schemas.openxmlformats.org/drawingml/2006/main">
            <a:r>
              <a:t>Assumptions: stationary weak-field clocks and constant standard gravity. Actual potential needs independent 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https://www.nature.com/articles/s41534-024-00898-7</a:t>
            </a:r>
          </a:p>
          <a:p xmlns:a="http://schemas.openxmlformats.org/drawingml/2006/main">
            <a:r>
              <a:t>https://chatgpt.com/share/6ab672dc-e820-83ea-a2a5-26643690422a</a:t>
            </a:r>
          </a:p>
          <a:p xmlns:a="http://schemas.openxmlformats.org/drawingml/2006/main">
            <a:r>
              <a:t>The state formulas and ideal spin-degenerate limit are in the accompanying proposal. Spin-dependent shifts must be measured in the real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https://www.bipm.org/documents/20126/288516347/171Yb_518THz_2025/73007ecc-49f5-4d1d-d8ee-6793a4748598</a:t>
            </a:r>
          </a:p>
          <a:p xmlns:a="http://schemas.openxmlformats.org/drawingml/2006/main">
            <a:r>
              <a:t>https://www.nature.com/articles/s41567-018-0197-6</a:t>
            </a:r>
          </a:p>
          <a:p xmlns:a="http://schemas.openxmlformats.org/drawingml/2006/main">
            <a:r>
              <a:t>Leading-order stationary-clock relation. The corresponding potential difference must be determined independently of the clock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https://www.nature.com/articles/s41586-022-05088-z</a:t>
            </a:r>
          </a:p>
          <a:p xmlns:a="http://schemas.openxmlformats.org/drawingml/2006/main">
            <a:r>
              <a:t>https://www.nature.com/articles/s41534-024-00898-7</a:t>
            </a:r>
          </a:p>
          <a:p xmlns:a="http://schemas.openxmlformats.org/drawingml/2006/main">
            <a:r>
              <a:t>The ideal parity readout in the shared conversation is a proposed control model, not a verified complete apparatus.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https://chatgpt.com/share/6ab672dc-e820-83ea-a2a5-26643690422a</a:t>
            </a:r>
          </a:p>
          <a:p xmlns:a="http://schemas.openxmlformats.org/drawingml/2006/main">
            <a:r>
              <a:t>Ideal parity model checked by shared/theory/ytterbium-clock-proposal-calculation.ts. This algebraic model check is not validation of the complete measurement hardware.</a:t>
            </a:r>
          </a:p>
          <a:p xmlns:a="http://schemas.openxmlformats.org/drawingml/2006/main">
            <a:r>
              <a:t>Exact example: {"plus":0.2602872306978985,"minus":0.7397127693021015}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https://chatgpt.com/share/6ab672dc-e820-83ea-a2a5-26643690422a</a:t>
            </a:r>
          </a:p>
          <a:p xmlns:a="http://schemas.openxmlformats.org/drawingml/2006/main">
            <a:r>
              <a:t>https://www.bipm.org/documents/20126/288516347/171Yb_518THz_2025/73007ecc-49f5-4d1d-d8ee-6793a4748598</a:t>
            </a:r>
          </a:p>
          <a:p xmlns:a="http://schemas.openxmlformats.org/drawingml/2006/main">
            <a:r>
              <a:t>https://www.nature.com/articles/s41534-024-00898-7</a:t>
            </a:r>
          </a:p>
          <a:p xmlns:a="http://schemas.openxmlformats.org/drawingml/2006/main">
            <a:r>
              <a:t>Operational ratio under the stated diagonal-coupling interpretation. A nonzero result needs systematics and model checks before physical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https://chatgpt.com/share/6ab672dc-e820-83ea-a2a5-26643690422a</a:t>
            </a:r>
          </a:p>
          <a:p xmlns:a="http://schemas.openxmlformats.org/drawingml/2006/main">
            <a:r>
              <a:t>https://www.nature.com/articles/s41567-018-0197-6</a:t>
            </a:r>
          </a:p>
          <a:p xmlns:a="http://schemas.openxmlformats.org/drawingml/2006/main">
            <a:r>
              <a:t>Each κ± divides corrected measured gravitational phase by a prediction from that encoding's measured spectroscopic gap and an independently measured potential difference.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https://www.nature.com/articles/s41534-024-00898-7</a:t>
            </a:r>
          </a:p>
          <a:p xmlns:a="http://schemas.openxmlformats.org/drawingml/2006/main">
            <a:r>
              <a:t>https://chatgpt.com/share/6ab672dc-e820-83ea-a2a5-26643690422a</a:t>
            </a:r>
          </a:p>
          <a:p xmlns:a="http://schemas.openxmlformats.org/drawingml/2006/main">
            <a:r>
              <a:t>These are proposal gates. No integrated experiment or measured coefficients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https://chatgpt.com/share/6ab672dc-e820-83ea-a2a5-26643690422a</a:t>
            </a:r>
          </a:p>
          <a:p xmlns:a="http://schemas.openxmlformats.org/drawingml/2006/main">
            <a:r>
              <a:t>https://www.nature.com/articles/s41567-018-0197-6</a:t>
            </a:r>
          </a:p>
          <a:p xmlns:a="http://schemas.openxmlformats.org/drawingml/2006/main">
            <a:r>
              <a:t>This is a proposed test, not a measured closure. The conventional and quantum modes share the gravitational baseline but use distinct readouts.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4770dd810e46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c53d9bdc894338" /><Relationship Type="http://schemas.openxmlformats.org/officeDocument/2006/relationships/slideLayout" Target="/ppt/slideLayouts/slideLayout1.xml" Id="R124f39b0a83546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4f39b0a83546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2115eff4ec4fbd" /><Relationship Type="http://schemas.openxmlformats.org/officeDocument/2006/relationships/image" Target="/ppt/media/image.png" Id="R6fe9616f19b04464" /><Relationship Type="http://schemas.openxmlformats.org/officeDocument/2006/relationships/notesSlide" Target="/ppt/notesSlides/notesSlide1.xml" Id="Ra69d4c49d50a48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7ffd8e1cac4a44" /><Relationship Type="http://schemas.openxmlformats.org/officeDocument/2006/relationships/notesSlide" Target="/ppt/notesSlides/notesSlide2.xml" Id="R4851b685312e45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8a414b0b604b97" /><Relationship Type="http://schemas.openxmlformats.org/officeDocument/2006/relationships/notesSlide" Target="/ppt/notesSlides/notesSlide3.xml" Id="R65f1dd5e56d240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44808422d7470a" /><Relationship Type="http://schemas.openxmlformats.org/officeDocument/2006/relationships/notesSlide" Target="/ppt/notesSlides/notesSlide4.xml" Id="R1d0a596470f24a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d73563e5de44ea" /><Relationship Type="http://schemas.openxmlformats.org/officeDocument/2006/relationships/notesSlide" Target="/ppt/notesSlides/notesSlide5.xml" Id="R7405a7a44d404a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788769175d4881" /><Relationship Type="http://schemas.openxmlformats.org/officeDocument/2006/relationships/notesSlide" Target="/ppt/notesSlides/notesSlide6.xml" Id="R26b4de5318a744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ba6e0842474627" /><Relationship Type="http://schemas.openxmlformats.org/officeDocument/2006/relationships/notesSlide" Target="/ppt/notesSlides/notesSlide7.xml" Id="R65654cdeb06d42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ad085c5ae34904" /><Relationship Type="http://schemas.openxmlformats.org/officeDocument/2006/relationships/notesSlide" Target="/ppt/notesSlides/notesSlide8.xml" Id="R9fa05bb676354a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41e510d071489f" /><Relationship Type="http://schemas.openxmlformats.org/officeDocument/2006/relationships/notesSlide" Target="/ppt/notesSlides/notesSlide9.xml" Id="Rb9959110d82b4c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82df8a2421243ac" /><Relationship Type="http://schemas.openxmlformats.org/officeDocument/2006/relationships/notesSlide" Target="/ppt/notesSlides/notesSlide10.xml" Id="Rf82022c6cd2248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2989339f254fe6" /><Relationship Type="http://schemas.openxmlformats.org/officeDocument/2006/relationships/notesSlide" Target="/ppt/notesSlides/notesSlide11.xml" Id="Rbbfdbb749ea445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d55dbff17446b4" /><Relationship Type="http://schemas.openxmlformats.org/officeDocument/2006/relationships/notesSlide" Target="/ppt/notesSlides/notesSlide12.xml" Id="Rdff071829ce54e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c304513e634755" /><Relationship Type="http://schemas.openxmlformats.org/officeDocument/2006/relationships/notesSlide" Target="/ppt/notesSlides/notesSlide13.xml" Id="R78cb9d024de64c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d669aae8b44d2e" /><Relationship Type="http://schemas.openxmlformats.org/officeDocument/2006/relationships/notesSlide" Target="/ppt/notesSlides/notesSlide14.xml" Id="Rb6cff46654444263" /></Relationships>
</file>

<file path=ppt/slides/slide1.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6fe9616f19b044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8522E3-1E22-4136-A128-F4C8813518EE}"/>
              </a:ext>
            </a:extLst>
          </p:cNvPr>
          <p:cNvSpPr>
            <a:spLocks xmlns:a="http://schemas.openxmlformats.org/drawingml/2006/main" noGrp="1"/>
          </p:cNvSpPr>
          <p:nvPr/>
        </p:nvSpPr>
        <p:spPr>
          <a:xfrm xmlns:a="http://schemas.openxmlformats.org/drawingml/2006/main">
            <a:off x="666750" y="17145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Explorations of the potential</a:t>
            </a:r>
          </a:p>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spin–gravity dimensionless response</a:t>
            </a:r>
          </a:p>
        </p:txBody>
      </p:sp>
      <p:sp>
        <p:nvSpPr>
          <p:cNvPr id="3" name="">
            <a:extLst xmlns:a="http://schemas.openxmlformats.org/drawingml/2006/main">
              <a:ext uri="{FF2B5EF4-FFF2-40B4-BE49-F238E27FC236}">
                <a16:creationId xmlns:a16="http://schemas.microsoft.com/office/drawing/2014/main" id="{E20914B8-02A3-4A1E-B879-A91B4ED6A333}"/>
              </a:ext>
            </a:extLst>
          </p:cNvPr>
          <p:cNvSpPr>
            <a:spLocks xmlns:a="http://schemas.openxmlformats.org/drawingml/2006/main" noGrp="1"/>
          </p:cNvSpPr>
          <p:nvPr/>
        </p:nvSpPr>
        <p:spPr>
          <a:xfrm xmlns:a="http://schemas.openxmlformats.org/drawingml/2006/main">
            <a:off x="704850" y="3762375"/>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D9E9F2"/>
                </a:solidFill>
                <a:latin typeface="Arial"/>
                <a:ea typeface="Arial"/>
                <a:cs typeface="Arial"/>
              </a:defRPr>
            </a:pPr>
            <a:r>
              <a:rPr sz="1875" b="0">
                <a:solidFill>
                  <a:srgbClr val="D9E9F2"/>
                </a:solidFill>
                <a:latin typeface="Arial"/>
                <a:ea typeface="Arial"/>
                <a:cs typeface="Arial"/>
              </a:rPr>
              <a:t>A terrestrial ytterbium-171 clock experiment proposal</a:t>
            </a:r>
          </a:p>
        </p:txBody>
      </p:sp>
    </p:spTree>
    <p:extLst>
      <p:ext uri="{BB962C8B-B14F-4D97-AF65-F5344CB8AC3E}">
        <p14:creationId xmlns:p14="http://schemas.microsoft.com/office/powerpoint/2010/main" val="1628060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A06E12-577B-4151-B4B4-578D5AC4BC50}"/>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The question behind the experiment</a:t>
            </a:r>
          </a:p>
        </p:txBody>
      </p:sp>
      <p:sp>
        <p:nvSpPr>
          <p:cNvPr id="2" name="">
            <a:extLst xmlns:a="http://schemas.openxmlformats.org/drawingml/2006/main">
              <a:ext uri="{FF2B5EF4-FFF2-40B4-BE49-F238E27FC236}">
                <a16:creationId xmlns:a16="http://schemas.microsoft.com/office/drawing/2014/main" id="{6977E6BD-F779-4181-9A16-A534D54F1E7D}"/>
              </a:ext>
            </a:extLst>
          </p:cNvPr>
          <p:cNvSpPr>
            <a:spLocks xmlns:a="http://schemas.openxmlformats.org/drawingml/2006/main" noGrp="1"/>
          </p:cNvSpPr>
          <p:nvPr/>
        </p:nvSpPr>
        <p:spPr>
          <a:xfrm xmlns:a="http://schemas.openxmlformats.org/drawingml/2006/main">
            <a:off x="704850" y="1476375"/>
            <a:ext cx="10620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72C3D"/>
                </a:solidFill>
                <a:latin typeface="Arial"/>
                <a:ea typeface="Arial"/>
                <a:cs typeface="Arial"/>
              </a:defRPr>
            </a:pPr>
            <a:r>
              <a:rPr sz="2400" b="0">
                <a:solidFill>
                  <a:srgbClr val="172C3D"/>
                </a:solidFill>
                <a:latin typeface="Arial"/>
                <a:ea typeface="Arial"/>
                <a:cs typeface="Arial"/>
              </a:rPr>
              <a:t>How do correlations inside an atom participate in gravitationally sensitive quantum interference?</a:t>
            </a:r>
          </a:p>
        </p:txBody>
      </p:sp>
      <p:sp>
        <p:nvSpPr>
          <p:cNvPr id="3" name="">
            <a:extLst xmlns:a="http://schemas.openxmlformats.org/drawingml/2006/main">
              <a:ext uri="{FF2B5EF4-FFF2-40B4-BE49-F238E27FC236}">
                <a16:creationId xmlns:a16="http://schemas.microsoft.com/office/drawing/2014/main" id="{DFC612B7-6ADC-4411-85D4-8B6EE47FDFA7}"/>
              </a:ext>
            </a:extLst>
          </p:cNvPr>
          <p:cNvSpPr>
            <a:spLocks xmlns:a="http://schemas.openxmlformats.org/drawingml/2006/main" noGrp="1"/>
          </p:cNvSpPr>
          <p:nvPr/>
        </p:nvSpPr>
        <p:spPr>
          <a:xfrm xmlns:a="http://schemas.openxmlformats.org/drawingml/2006/main">
            <a:off x="704850" y="3095625"/>
            <a:ext cx="1062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2C3D"/>
                </a:solidFill>
                <a:latin typeface="Arial"/>
                <a:ea typeface="Arial"/>
                <a:cs typeface="Arial"/>
              </a:defRPr>
            </a:pPr>
            <a:r>
              <a:rPr sz="1950" b="0">
                <a:solidFill>
                  <a:srgbClr val="172C3D"/>
                </a:solidFill>
                <a:latin typeface="Arial"/>
                <a:ea typeface="Arial"/>
                <a:cs typeface="Arial"/>
              </a:rPr>
              <a:t>The proposed test uses two stationary atoms. One optical excitation is coherently shared between their locations, while its association with nuclear spin is reversed between preparations.</a:t>
            </a:r>
          </a:p>
        </p:txBody>
      </p:sp>
      <p:sp>
        <p:nvSpPr>
          <p:cNvPr id="4" name="">
            <a:extLst xmlns:a="http://schemas.openxmlformats.org/drawingml/2006/main">
              <a:ext uri="{FF2B5EF4-FFF2-40B4-BE49-F238E27FC236}">
                <a16:creationId xmlns:a16="http://schemas.microsoft.com/office/drawing/2014/main" id="{C43CBE7C-3B1F-45AF-B6E4-33E16A92CF6D}"/>
              </a:ext>
            </a:extLst>
          </p:cNvPr>
          <p:cNvSpPr>
            <a:spLocks xmlns:a="http://schemas.openxmlformats.org/drawingml/2006/main" noGrp="1"/>
          </p:cNvSpPr>
          <p:nvPr/>
        </p:nvSpPr>
        <p:spPr>
          <a:xfrm xmlns:a="http://schemas.openxmlformats.org/drawingml/2006/main">
            <a:off x="704850" y="5353050"/>
            <a:ext cx="1062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The atoms remain trapped at separate stations. The test concerns distributed internal-state coherence.</a:t>
            </a:r>
          </a:p>
        </p:txBody>
      </p:sp>
    </p:spTree>
    <p:extLst>
      <p:ext uri="{BB962C8B-B14F-4D97-AF65-F5344CB8AC3E}">
        <p14:creationId xmlns:p14="http://schemas.microsoft.com/office/powerpoint/2010/main" val="1295678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F0BB81-B323-4C73-91E9-C4ADAC6DD48F}"/>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Why use a building-scale height difference?</a:t>
            </a:r>
          </a:p>
        </p:txBody>
      </p:sp>
      <p:sp>
        <p:nvSpPr>
          <p:cNvPr id="2" name="">
            <a:extLst xmlns:a="http://schemas.openxmlformats.org/drawingml/2006/main">
              <a:ext uri="{FF2B5EF4-FFF2-40B4-BE49-F238E27FC236}">
                <a16:creationId xmlns:a16="http://schemas.microsoft.com/office/drawing/2014/main" id="{262C8A62-0250-4141-BF70-2DD439983C71}"/>
              </a:ext>
            </a:extLst>
          </p:cNvPr>
          <p:cNvSpPr>
            <a:spLocks xmlns:a="http://schemas.openxmlformats.org/drawingml/2006/main" noGrp="1"/>
          </p:cNvSpPr>
          <p:nvPr/>
        </p:nvSpPr>
        <p:spPr>
          <a:xfrm xmlns:a="http://schemas.openxmlformats.org/drawingml/2006/main">
            <a:off x="704850" y="1200150"/>
            <a:ext cx="1062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At 1 cm for 10 s, the ideal phase difference is only 0.0355 rad. A 1% response test would need about 5.66 μHz control of differential-frequency bias.</a:t>
            </a:r>
          </a:p>
        </p:txBody>
      </p:sp>
      <p:graphicFrame>
        <p:nvGraphicFramePr>
          <p:cNvPr id="7" name=""/>
          <p:cNvGraphicFramePr/>
          <p:nvPr/>
        </p:nvGraphicFramePr>
        <p:xfrm>
          <a:off xmlns:a="http://schemas.openxmlformats.org/drawingml/2006/main" x="704850" y="2333625"/>
          <a:ext xmlns:a="http://schemas.openxmlformats.org/drawingml/2006/main" cx="10782300" cy="3305175"/>
        </p:xfrm>
        <a:graphic xmlns:a="http://schemas.openxmlformats.org/drawingml/2006/main">
          <a:graphicData uri="http://schemas.openxmlformats.org/drawingml/2006/table">
            <a:tbl>
              <a:tblPr firstRow="1" bandRow="0"/>
              <a:tblGrid>
                <a:gridCol w="3143250"/>
                <a:gridCol w="4095750"/>
                <a:gridCol w="3543300"/>
              </a:tblGrid>
              <a:tr h="550863">
                <a:tc>
                  <a:txBody>
                    <a:bodyPr/>
                    <a:lstStyle/>
                    <a:p>
                      <a:r>
                        <a:rPr sz="1500" b="1">
                          <a:solidFill>
                            <a:srgbClr val="FFFFFF"/>
                          </a:solidFill>
                          <a:latin typeface="Arial"/>
                          <a:ea typeface="Arial"/>
                          <a:cs typeface="Arial"/>
                        </a:rPr>
                        <a:t>Vertical separation</a:t>
                      </a:r>
                    </a:p>
                  </a:txBody>
                  <a:tcPr marL="91440" marR="91440" marT="45720" marB="45720">
                    <a:solidFill>
                      <a:srgbClr val="102238"/>
                    </a:solidFill>
                  </a:tcPr>
                </a:tc>
                <a:tc>
                  <a:txBody>
                    <a:bodyPr/>
                    <a:lstStyle/>
                    <a:p>
                      <a:r>
                        <a:rPr sz="1500" b="1">
                          <a:solidFill>
                            <a:srgbClr val="FFFFFF"/>
                          </a:solidFill>
                          <a:latin typeface="Arial"/>
                          <a:ea typeface="Arial"/>
                          <a:cs typeface="Arial"/>
                        </a:rPr>
                        <a:t>Yb-171 frequency difference</a:t>
                      </a:r>
                    </a:p>
                  </a:txBody>
                  <a:tcPr marL="91440" marR="91440" marT="45720" marB="45720">
                    <a:solidFill>
                      <a:srgbClr val="102238"/>
                    </a:solidFill>
                  </a:tcPr>
                </a:tc>
                <a:tc>
                  <a:txBody>
                    <a:bodyPr/>
                    <a:lstStyle/>
                    <a:p>
                      <a:r>
                        <a:rPr sz="1500" b="1">
                          <a:solidFill>
                            <a:srgbClr val="FFFFFF"/>
                          </a:solidFill>
                          <a:latin typeface="Arial"/>
                          <a:ea typeface="Arial"/>
                          <a:cs typeface="Arial"/>
                        </a:rPr>
                        <a:t>Time for 0.5 rad</a:t>
                      </a:r>
                    </a:p>
                  </a:txBody>
                  <a:tcPr marL="91440" marR="91440" marT="45720" marB="45720">
                    <a:solidFill>
                      <a:srgbClr val="102238"/>
                    </a:solidFill>
                  </a:tcPr>
                </a:tc>
              </a:tr>
              <a:tr h="550863">
                <a:tc>
                  <a:txBody>
                    <a:bodyPr/>
                    <a:lstStyle/>
                    <a:p>
                      <a:r>
                        <a:rPr sz="1650" b="0">
                          <a:solidFill>
                            <a:srgbClr val="172C3D"/>
                          </a:solidFill>
                          <a:latin typeface="Arial"/>
                          <a:ea typeface="Arial"/>
                          <a:cs typeface="Arial"/>
                        </a:rPr>
                        <a:t>1 cm</a:t>
                      </a:r>
                    </a:p>
                  </a:txBody>
                  <a:tcPr marL="91440" marR="91440" marT="45720" marB="45720">
                    <a:solidFill>
                      <a:srgbClr val="F3F8F9"/>
                    </a:solidFill>
                  </a:tcPr>
                </a:tc>
                <a:tc>
                  <a:txBody>
                    <a:bodyPr/>
                    <a:lstStyle/>
                    <a:p>
                      <a:r>
                        <a:rPr sz="1650" b="0">
                          <a:solidFill>
                            <a:srgbClr val="172C3D"/>
                          </a:solidFill>
                          <a:latin typeface="Arial"/>
                          <a:ea typeface="Arial"/>
                          <a:cs typeface="Arial"/>
                        </a:rPr>
                        <a:t>0.000566 Hz</a:t>
                      </a:r>
                    </a:p>
                  </a:txBody>
                  <a:tcPr marL="91440" marR="91440" marT="45720" marB="45720">
                    <a:solidFill>
                      <a:srgbClr val="F3F8F9"/>
                    </a:solidFill>
                  </a:tcPr>
                </a:tc>
                <a:tc>
                  <a:txBody>
                    <a:bodyPr/>
                    <a:lstStyle/>
                    <a:p>
                      <a:r>
                        <a:rPr sz="1650" b="0">
                          <a:solidFill>
                            <a:srgbClr val="172C3D"/>
                          </a:solidFill>
                          <a:latin typeface="Arial"/>
                          <a:ea typeface="Arial"/>
                          <a:cs typeface="Arial"/>
                        </a:rPr>
                        <a:t>141 s</a:t>
                      </a:r>
                    </a:p>
                  </a:txBody>
                  <a:tcPr marL="91440" marR="91440" marT="45720" marB="45720">
                    <a:solidFill>
                      <a:srgbClr val="F3F8F9"/>
                    </a:solidFill>
                  </a:tcPr>
                </a:tc>
              </a:tr>
              <a:tr h="550863">
                <a:tc>
                  <a:txBody>
                    <a:bodyPr/>
                    <a:lstStyle/>
                    <a:p>
                      <a:r>
                        <a:rPr sz="1650" b="0">
                          <a:solidFill>
                            <a:srgbClr val="172C3D"/>
                          </a:solidFill>
                          <a:latin typeface="Arial"/>
                          <a:ea typeface="Arial"/>
                          <a:cs typeface="Arial"/>
                        </a:rPr>
                        <a:t>1 m</a:t>
                      </a:r>
                    </a:p>
                  </a:txBody>
                  <a:tcPr marL="91440" marR="91440" marT="45720" marB="45720">
                    <a:solidFill>
                      <a:srgbClr val="FFFFFF"/>
                    </a:solidFill>
                  </a:tcPr>
                </a:tc>
                <a:tc>
                  <a:txBody>
                    <a:bodyPr/>
                    <a:lstStyle/>
                    <a:p>
                      <a:r>
                        <a:rPr sz="1650" b="0">
                          <a:solidFill>
                            <a:srgbClr val="172C3D"/>
                          </a:solidFill>
                          <a:latin typeface="Arial"/>
                          <a:ea typeface="Arial"/>
                          <a:cs typeface="Arial"/>
                        </a:rPr>
                        <a:t>0.0566 Hz</a:t>
                      </a:r>
                    </a:p>
                  </a:txBody>
                  <a:tcPr marL="91440" marR="91440" marT="45720" marB="45720">
                    <a:solidFill>
                      <a:srgbClr val="FFFFFF"/>
                    </a:solidFill>
                  </a:tcPr>
                </a:tc>
                <a:tc>
                  <a:txBody>
                    <a:bodyPr/>
                    <a:lstStyle/>
                    <a:p>
                      <a:r>
                        <a:rPr sz="1650" b="0">
                          <a:solidFill>
                            <a:srgbClr val="172C3D"/>
                          </a:solidFill>
                          <a:latin typeface="Arial"/>
                          <a:ea typeface="Arial"/>
                          <a:cs typeface="Arial"/>
                        </a:rPr>
                        <a:t>1.41 s</a:t>
                      </a:r>
                    </a:p>
                  </a:txBody>
                  <a:tcPr marL="91440" marR="91440" marT="45720" marB="45720">
                    <a:solidFill>
                      <a:srgbClr val="FFFFFF"/>
                    </a:solidFill>
                  </a:tcPr>
                </a:tc>
              </a:tr>
              <a:tr h="550863">
                <a:tc>
                  <a:txBody>
                    <a:bodyPr/>
                    <a:lstStyle/>
                    <a:p>
                      <a:r>
                        <a:rPr sz="1650" b="0">
                          <a:solidFill>
                            <a:srgbClr val="172C3D"/>
                          </a:solidFill>
                          <a:latin typeface="Arial"/>
                          <a:ea typeface="Arial"/>
                          <a:cs typeface="Arial"/>
                        </a:rPr>
                        <a:t>10 m</a:t>
                      </a:r>
                    </a:p>
                  </a:txBody>
                  <a:tcPr marL="91440" marR="91440" marT="45720" marB="45720">
                    <a:solidFill>
                      <a:srgbClr val="F3F8F9"/>
                    </a:solidFill>
                  </a:tcPr>
                </a:tc>
                <a:tc>
                  <a:txBody>
                    <a:bodyPr/>
                    <a:lstStyle/>
                    <a:p>
                      <a:r>
                        <a:rPr sz="1650" b="0">
                          <a:solidFill>
                            <a:srgbClr val="172C3D"/>
                          </a:solidFill>
                          <a:latin typeface="Arial"/>
                          <a:ea typeface="Arial"/>
                          <a:cs typeface="Arial"/>
                        </a:rPr>
                        <a:t>0.566 Hz</a:t>
                      </a:r>
                    </a:p>
                  </a:txBody>
                  <a:tcPr marL="91440" marR="91440" marT="45720" marB="45720">
                    <a:solidFill>
                      <a:srgbClr val="F3F8F9"/>
                    </a:solidFill>
                  </a:tcPr>
                </a:tc>
                <a:tc>
                  <a:txBody>
                    <a:bodyPr/>
                    <a:lstStyle/>
                    <a:p>
                      <a:r>
                        <a:rPr sz="1650" b="0">
                          <a:solidFill>
                            <a:srgbClr val="172C3D"/>
                          </a:solidFill>
                          <a:latin typeface="Arial"/>
                          <a:ea typeface="Arial"/>
                          <a:cs typeface="Arial"/>
                        </a:rPr>
                        <a:t>0.141 s</a:t>
                      </a:r>
                    </a:p>
                  </a:txBody>
                  <a:tcPr marL="91440" marR="91440" marT="45720" marB="45720">
                    <a:solidFill>
                      <a:srgbClr val="F3F8F9"/>
                    </a:solidFill>
                  </a:tcPr>
                </a:tc>
              </a:tr>
              <a:tr h="550863">
                <a:tc>
                  <a:txBody>
                    <a:bodyPr/>
                    <a:lstStyle/>
                    <a:p>
                      <a:r>
                        <a:rPr sz="1650" b="0">
                          <a:solidFill>
                            <a:srgbClr val="172C3D"/>
                          </a:solidFill>
                          <a:latin typeface="Arial"/>
                          <a:ea typeface="Arial"/>
                          <a:cs typeface="Arial"/>
                        </a:rPr>
                        <a:t>100 m</a:t>
                      </a:r>
                    </a:p>
                  </a:txBody>
                  <a:tcPr marL="91440" marR="91440" marT="45720" marB="45720">
                    <a:solidFill>
                      <a:srgbClr val="FFFFFF"/>
                    </a:solidFill>
                  </a:tcPr>
                </a:tc>
                <a:tc>
                  <a:txBody>
                    <a:bodyPr/>
                    <a:lstStyle/>
                    <a:p>
                      <a:r>
                        <a:rPr sz="1650" b="0">
                          <a:solidFill>
                            <a:srgbClr val="172C3D"/>
                          </a:solidFill>
                          <a:latin typeface="Arial"/>
                          <a:ea typeface="Arial"/>
                          <a:cs typeface="Arial"/>
                        </a:rPr>
                        <a:t>5.66 Hz</a:t>
                      </a:r>
                    </a:p>
                  </a:txBody>
                  <a:tcPr marL="91440" marR="91440" marT="45720" marB="45720">
                    <a:solidFill>
                      <a:srgbClr val="FFFFFF"/>
                    </a:solidFill>
                  </a:tcPr>
                </a:tc>
                <a:tc>
                  <a:txBody>
                    <a:bodyPr/>
                    <a:lstStyle/>
                    <a:p>
                      <a:r>
                        <a:rPr sz="1650" b="0">
                          <a:solidFill>
                            <a:srgbClr val="172C3D"/>
                          </a:solidFill>
                          <a:latin typeface="Arial"/>
                          <a:ea typeface="Arial"/>
                          <a:cs typeface="Arial"/>
                        </a:rPr>
                        <a:t>0.0141 s</a:t>
                      </a:r>
                    </a:p>
                  </a:txBody>
                  <a:tcPr marL="91440" marR="91440" marT="45720" marB="45720">
                    <a:solidFill>
                      <a:srgbClr val="FFFFFF"/>
                    </a:solidFill>
                  </a:tcPr>
                </a:tc>
              </a:tr>
              <a:tr h="550863">
                <a:tc>
                  <a:txBody>
                    <a:bodyPr/>
                    <a:lstStyle/>
                    <a:p>
                      <a:r>
                        <a:rPr sz="1650" b="0">
                          <a:solidFill>
                            <a:srgbClr val="172C3D"/>
                          </a:solidFill>
                          <a:latin typeface="Arial"/>
                          <a:ea typeface="Arial"/>
                          <a:cs typeface="Arial"/>
                        </a:rPr>
                        <a:t>450 m</a:t>
                      </a:r>
                    </a:p>
                  </a:txBody>
                  <a:tcPr marL="91440" marR="91440" marT="45720" marB="45720">
                    <a:solidFill>
                      <a:srgbClr val="F3F8F9"/>
                    </a:solidFill>
                  </a:tcPr>
                </a:tc>
                <a:tc>
                  <a:txBody>
                    <a:bodyPr/>
                    <a:lstStyle/>
                    <a:p>
                      <a:r>
                        <a:rPr sz="1650" b="0">
                          <a:solidFill>
                            <a:srgbClr val="172C3D"/>
                          </a:solidFill>
                          <a:latin typeface="Arial"/>
                          <a:ea typeface="Arial"/>
                          <a:cs typeface="Arial"/>
                        </a:rPr>
                        <a:t>25.4 Hz</a:t>
                      </a:r>
                    </a:p>
                  </a:txBody>
                  <a:tcPr marL="91440" marR="91440" marT="45720" marB="45720">
                    <a:solidFill>
                      <a:srgbClr val="F3F8F9"/>
                    </a:solidFill>
                  </a:tcPr>
                </a:tc>
                <a:tc>
                  <a:txBody>
                    <a:bodyPr/>
                    <a:lstStyle/>
                    <a:p>
                      <a:r>
                        <a:rPr sz="1650" b="0">
                          <a:solidFill>
                            <a:srgbClr val="172C3D"/>
                          </a:solidFill>
                          <a:latin typeface="Arial"/>
                          <a:ea typeface="Arial"/>
                          <a:cs typeface="Arial"/>
                        </a:rPr>
                        <a:t>0.00313 s</a:t>
                      </a:r>
                    </a:p>
                  </a:txBody>
                  <a:tcPr marL="91440" marR="91440" marT="45720" marB="45720">
                    <a:solidFill>
                      <a:srgbClr val="F3F8F9"/>
                    </a:solidFill>
                  </a:tcPr>
                </a:tc>
              </a:tr>
            </a:tbl>
          </a:graphicData>
        </a:graphic>
      </p:graphicFrame>
      <p:sp>
        <p:nvSpPr>
          <p:cNvPr id="4" name="">
            <a:extLst xmlns:a="http://schemas.openxmlformats.org/drawingml/2006/main">
              <a:ext uri="{FF2B5EF4-FFF2-40B4-BE49-F238E27FC236}">
                <a16:creationId xmlns:a16="http://schemas.microsoft.com/office/drawing/2014/main" id="{96C30BC3-D848-4E8D-AF96-27455051A000}"/>
              </a:ext>
            </a:extLst>
          </p:cNvPr>
          <p:cNvSpPr>
            <a:spLocks xmlns:a="http://schemas.openxmlformats.org/drawingml/2006/main" noGrp="1"/>
          </p:cNvSpPr>
          <p:nvPr/>
        </p:nvSpPr>
        <p:spPr>
          <a:xfrm xmlns:a="http://schemas.openxmlformats.org/drawingml/2006/main">
            <a:off x="704850" y="5819775"/>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Calculated stationary-clock examples. Each clock behaves normally in its local laboratory.</a:t>
            </a:r>
          </a:p>
        </p:txBody>
      </p:sp>
    </p:spTree>
    <p:extLst>
      <p:ext uri="{BB962C8B-B14F-4D97-AF65-F5344CB8AC3E}">
        <p14:creationId xmlns:p14="http://schemas.microsoft.com/office/powerpoint/2010/main" val="13019158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151420-1CAC-46B2-8685-0FC7705F0A1A}"/>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A terrestrial redshift benchmark already exists</a:t>
            </a:r>
          </a:p>
        </p:txBody>
      </p:sp>
      <p:sp>
        <p:nvSpPr>
          <p:cNvPr id="2" name="">
            <a:extLst xmlns:a="http://schemas.openxmlformats.org/drawingml/2006/main">
              <a:ext uri="{FF2B5EF4-FFF2-40B4-BE49-F238E27FC236}">
                <a16:creationId xmlns:a16="http://schemas.microsoft.com/office/drawing/2014/main" id="{71B7B176-FFC8-4755-8BDE-0453279C8D28}"/>
              </a:ext>
            </a:extLst>
          </p:cNvPr>
          <p:cNvSpPr>
            <a:spLocks xmlns:a="http://schemas.openxmlformats.org/drawingml/2006/main" noGrp="1"/>
          </p:cNvSpPr>
          <p:nvPr/>
        </p:nvSpPr>
        <p:spPr>
          <a:xfrm xmlns:a="http://schemas.openxmlformats.org/drawingml/2006/main">
            <a:off x="704850" y="1428750"/>
            <a:ext cx="10620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72C3D"/>
                </a:solidFill>
                <a:latin typeface="Arial"/>
                <a:ea typeface="Arial"/>
                <a:cs typeface="Arial"/>
              </a:defRPr>
            </a:pPr>
            <a:r>
              <a:rPr sz="2325" b="0">
                <a:solidFill>
                  <a:srgbClr val="172C3D"/>
                </a:solidFill>
                <a:latin typeface="Arial"/>
                <a:ea typeface="Arial"/>
                <a:cs typeface="Arial"/>
              </a:rPr>
              <a:t>Tokyo Skytree compared two transportable strontium optical lattice clocks across about 450 m.</a:t>
            </a:r>
          </a:p>
        </p:txBody>
      </p:sp>
      <p:sp>
        <p:nvSpPr>
          <p:cNvPr id="3" name="">
            <a:extLst xmlns:a="http://schemas.openxmlformats.org/drawingml/2006/main">
              <a:ext uri="{FF2B5EF4-FFF2-40B4-BE49-F238E27FC236}">
                <a16:creationId xmlns:a16="http://schemas.microsoft.com/office/drawing/2014/main" id="{510E6D92-9468-45FC-91FE-5960B0A44549}"/>
              </a:ext>
            </a:extLst>
          </p:cNvPr>
          <p:cNvSpPr>
            <a:spLocks xmlns:a="http://schemas.openxmlformats.org/drawingml/2006/main" noGrp="1"/>
          </p:cNvSpPr>
          <p:nvPr/>
        </p:nvSpPr>
        <p:spPr>
          <a:xfrm xmlns:a="http://schemas.openxmlformats.org/drawingml/2006/main">
            <a:off x="742950" y="28003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00" b="1">
                <a:solidFill>
                  <a:srgbClr val="087F8C"/>
                </a:solidFill>
                <a:latin typeface="Arial"/>
                <a:ea typeface="Arial"/>
                <a:cs typeface="Arial"/>
              </a:defRPr>
            </a:pPr>
            <a:r>
              <a:rPr sz="4500" b="1">
                <a:solidFill>
                  <a:srgbClr val="087F8C"/>
                </a:solidFill>
                <a:latin typeface="Arial"/>
                <a:ea typeface="Arial"/>
                <a:cs typeface="Arial"/>
              </a:rPr>
              <a:t>9.1 × 10⁻⁵</a:t>
            </a:r>
          </a:p>
        </p:txBody>
      </p:sp>
      <p:sp>
        <p:nvSpPr>
          <p:cNvPr id="4" name="">
            <a:extLst xmlns:a="http://schemas.openxmlformats.org/drawingml/2006/main">
              <a:ext uri="{FF2B5EF4-FFF2-40B4-BE49-F238E27FC236}">
                <a16:creationId xmlns:a16="http://schemas.microsoft.com/office/drawing/2014/main" id="{81AE14B7-6CF9-43B4-B2EF-E7C6C815A63E}"/>
              </a:ext>
            </a:extLst>
          </p:cNvPr>
          <p:cNvSpPr>
            <a:spLocks xmlns:a="http://schemas.openxmlformats.org/drawingml/2006/main" noGrp="1"/>
          </p:cNvSpPr>
          <p:nvPr/>
        </p:nvSpPr>
        <p:spPr>
          <a:xfrm xmlns:a="http://schemas.openxmlformats.org/drawingml/2006/main">
            <a:off x="704850" y="3876675"/>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Relative uncertainty in its gravitational redshift test</a:t>
            </a:r>
          </a:p>
        </p:txBody>
      </p:sp>
      <p:sp>
        <p:nvSpPr>
          <p:cNvPr id="5" name="">
            <a:extLst xmlns:a="http://schemas.openxmlformats.org/drawingml/2006/main">
              <a:ext uri="{FF2B5EF4-FFF2-40B4-BE49-F238E27FC236}">
                <a16:creationId xmlns:a16="http://schemas.microsoft.com/office/drawing/2014/main" id="{4AFBC845-CFB4-4510-AEA1-E1EB68210BBE}"/>
              </a:ext>
            </a:extLst>
          </p:cNvPr>
          <p:cNvSpPr>
            <a:spLocks xmlns:a="http://schemas.openxmlformats.org/drawingml/2006/main" noGrp="1"/>
          </p:cNvSpPr>
          <p:nvPr/>
        </p:nvSpPr>
        <p:spPr>
          <a:xfrm xmlns:a="http://schemas.openxmlformats.org/drawingml/2006/main">
            <a:off x="704850" y="5257800"/>
            <a:ext cx="10620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The proposed ytterbium correlation mode adds a different measurement. The Skytree clocks were not entangled.</a:t>
            </a:r>
          </a:p>
        </p:txBody>
      </p:sp>
    </p:spTree>
    <p:extLst>
      <p:ext uri="{BB962C8B-B14F-4D97-AF65-F5344CB8AC3E}">
        <p14:creationId xmlns:p14="http://schemas.microsoft.com/office/powerpoint/2010/main" val="19177558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B83020-D27E-4CE3-B3AE-2B1DBF95D4C1}"/>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Two modes at the same gravitational baseline</a:t>
            </a:r>
          </a:p>
        </p:txBody>
      </p:sp>
      <p:sp>
        <p:nvSpPr>
          <p:cNvPr id="2" name="">
            <a:extLst xmlns:a="http://schemas.openxmlformats.org/drawingml/2006/main">
              <a:ext uri="{FF2B5EF4-FFF2-40B4-BE49-F238E27FC236}">
                <a16:creationId xmlns:a16="http://schemas.microsoft.com/office/drawing/2014/main" id="{20636EF9-4128-4F2A-B359-345F244FFFA1}"/>
              </a:ext>
            </a:extLst>
          </p:cNvPr>
          <p:cNvSpPr>
            <a:spLocks xmlns:a="http://schemas.openxmlformats.org/drawingml/2006/main" noGrp="1"/>
          </p:cNvSpPr>
          <p:nvPr/>
        </p:nvSpPr>
        <p:spPr>
          <a:xfrm xmlns:a="http://schemas.openxmlformats.org/drawingml/2006/main">
            <a:off x="704850" y="14287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Conventional clock mode</a:t>
            </a:r>
          </a:p>
        </p:txBody>
      </p:sp>
      <p:sp>
        <p:nvSpPr>
          <p:cNvPr id="3" name="">
            <a:extLst xmlns:a="http://schemas.openxmlformats.org/drawingml/2006/main">
              <a:ext uri="{FF2B5EF4-FFF2-40B4-BE49-F238E27FC236}">
                <a16:creationId xmlns:a16="http://schemas.microsoft.com/office/drawing/2014/main" id="{852D6BF3-60ED-437D-AF0F-596834CF1EC5}"/>
              </a:ext>
            </a:extLst>
          </p:cNvPr>
          <p:cNvSpPr>
            <a:spLocks xmlns:a="http://schemas.openxmlformats.org/drawingml/2006/main" noGrp="1"/>
          </p:cNvSpPr>
          <p:nvPr/>
        </p:nvSpPr>
        <p:spPr>
          <a:xfrm xmlns:a="http://schemas.openxmlformats.org/drawingml/2006/main">
            <a:off x="704850" y="2047875"/>
            <a:ext cx="49053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Compare two unentangled optical clocks through a stabilized frequency-transfer link. This measures the ordinary gravitational frequency difference.</a:t>
            </a:r>
          </a:p>
        </p:txBody>
      </p:sp>
      <p:sp>
        <p:nvSpPr>
          <p:cNvPr id="4" name="">
            <a:extLst xmlns:a="http://schemas.openxmlformats.org/drawingml/2006/main">
              <a:ext uri="{FF2B5EF4-FFF2-40B4-BE49-F238E27FC236}">
                <a16:creationId xmlns:a16="http://schemas.microsoft.com/office/drawing/2014/main" id="{E763C762-BBDA-4CEC-973A-1A27A13E10F6}"/>
              </a:ext>
            </a:extLst>
          </p:cNvPr>
          <p:cNvSpPr>
            <a:spLocks xmlns:a="http://schemas.openxmlformats.org/drawingml/2006/main" noGrp="1"/>
          </p:cNvSpPr>
          <p:nvPr/>
        </p:nvSpPr>
        <p:spPr>
          <a:xfrm xmlns:a="http://schemas.openxmlformats.org/drawingml/2006/main">
            <a:off x="6362700" y="14287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Distributed quantum mode</a:t>
            </a:r>
          </a:p>
        </p:txBody>
      </p:sp>
      <p:sp>
        <p:nvSpPr>
          <p:cNvPr id="5" name="">
            <a:extLst xmlns:a="http://schemas.openxmlformats.org/drawingml/2006/main">
              <a:ext uri="{FF2B5EF4-FFF2-40B4-BE49-F238E27FC236}">
                <a16:creationId xmlns:a16="http://schemas.microsoft.com/office/drawing/2014/main" id="{8FBA5E5D-6711-4118-848D-FA4D202C723F}"/>
              </a:ext>
            </a:extLst>
          </p:cNvPr>
          <p:cNvSpPr>
            <a:spLocks xmlns:a="http://schemas.openxmlformats.org/drawingml/2006/main" noGrp="1"/>
          </p:cNvSpPr>
          <p:nvPr/>
        </p:nvSpPr>
        <p:spPr>
          <a:xfrm xmlns:a="http://schemas.openxmlformats.org/drawingml/2006/main">
            <a:off x="6362700" y="2047875"/>
            <a:ext cx="49530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Use a photon-mediated protocol to prepare entangled atoms at the two stations. Joint measurements read the phase of their shared optical excitation.</a:t>
            </a:r>
          </a:p>
        </p:txBody>
      </p:sp>
      <p:sp>
        <p:nvSpPr>
          <p:cNvPr id="6" name="">
            <a:extLst xmlns:a="http://schemas.openxmlformats.org/drawingml/2006/main">
              <a:ext uri="{FF2B5EF4-FFF2-40B4-BE49-F238E27FC236}">
                <a16:creationId xmlns:a16="http://schemas.microsoft.com/office/drawing/2014/main" id="{3BDB7945-B1B2-49C4-A7B6-5C4C133B3978}"/>
              </a:ext>
            </a:extLst>
          </p:cNvPr>
          <p:cNvSpPr>
            <a:spLocks xmlns:a="http://schemas.openxmlformats.org/drawingml/2006/main" noGrp="1"/>
          </p:cNvSpPr>
          <p:nvPr/>
        </p:nvSpPr>
        <p:spPr>
          <a:xfrm xmlns:a="http://schemas.openxmlformats.org/drawingml/2006/main">
            <a:off x="704850" y="4924425"/>
            <a:ext cx="106203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A stable phase-reference link and an entanglement-generation link perform different functions.</a:t>
            </a:r>
          </a:p>
        </p:txBody>
      </p:sp>
    </p:spTree>
    <p:extLst>
      <p:ext uri="{BB962C8B-B14F-4D97-AF65-F5344CB8AC3E}">
        <p14:creationId xmlns:p14="http://schemas.microsoft.com/office/powerpoint/2010/main" val="4461760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AC07BB-A2CE-4D29-B787-7340EAACD8C3}"/>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Operating scales for the terrestrial design</a:t>
            </a:r>
          </a:p>
        </p:txBody>
      </p:sp>
      <p:graphicFrame>
        <p:nvGraphicFramePr>
          <p:cNvPr id="5" name=""/>
          <p:cNvGraphicFramePr/>
          <p:nvPr/>
        </p:nvGraphicFramePr>
        <p:xfrm>
          <a:off xmlns:a="http://schemas.openxmlformats.org/drawingml/2006/main" x="704850" y="1428750"/>
          <a:ext xmlns:a="http://schemas.openxmlformats.org/drawingml/2006/main" cx="10782300" cy="4000500"/>
        </p:xfrm>
        <a:graphic xmlns:a="http://schemas.openxmlformats.org/drawingml/2006/main">
          <a:graphicData uri="http://schemas.openxmlformats.org/drawingml/2006/table">
            <a:tbl>
              <a:tblPr firstRow="1" bandRow="0"/>
              <a:tblGrid>
                <a:gridCol w="4333875"/>
                <a:gridCol w="3219450"/>
                <a:gridCol w="3228975"/>
              </a:tblGrid>
              <a:tr h="666750">
                <a:tc>
                  <a:txBody>
                    <a:bodyPr/>
                    <a:lstStyle/>
                    <a:p>
                      <a:r>
                        <a:rPr sz="1500" b="1">
                          <a:solidFill>
                            <a:srgbClr val="FFFFFF"/>
                          </a:solidFill>
                          <a:latin typeface="Arial"/>
                          <a:ea typeface="Arial"/>
                          <a:cs typeface="Arial"/>
                        </a:rPr>
                        <a:t>Quantity</a:t>
                      </a:r>
                    </a:p>
                  </a:txBody>
                  <a:tcPr marL="91440" marR="91440" marT="45720" marB="45720">
                    <a:solidFill>
                      <a:srgbClr val="102238"/>
                    </a:solidFill>
                  </a:tcPr>
                </a:tc>
                <a:tc>
                  <a:txBody>
                    <a:bodyPr/>
                    <a:lstStyle/>
                    <a:p>
                      <a:r>
                        <a:rPr sz="1500" b="1">
                          <a:solidFill>
                            <a:srgbClr val="FFFFFF"/>
                          </a:solidFill>
                          <a:latin typeface="Arial"/>
                          <a:ea typeface="Arial"/>
                          <a:cs typeface="Arial"/>
                        </a:rPr>
                        <a:t>10 m separation</a:t>
                      </a:r>
                    </a:p>
                  </a:txBody>
                  <a:tcPr marL="91440" marR="91440" marT="45720" marB="45720">
                    <a:solidFill>
                      <a:srgbClr val="102238"/>
                    </a:solidFill>
                  </a:tcPr>
                </a:tc>
                <a:tc>
                  <a:txBody>
                    <a:bodyPr/>
                    <a:lstStyle/>
                    <a:p>
                      <a:r>
                        <a:rPr sz="1500" b="1">
                          <a:solidFill>
                            <a:srgbClr val="FFFFFF"/>
                          </a:solidFill>
                          <a:latin typeface="Arial"/>
                          <a:ea typeface="Arial"/>
                          <a:cs typeface="Arial"/>
                        </a:rPr>
                        <a:t>100 m separation</a:t>
                      </a:r>
                    </a:p>
                  </a:txBody>
                  <a:tcPr marL="91440" marR="91440" marT="45720" marB="45720">
                    <a:solidFill>
                      <a:srgbClr val="102238"/>
                    </a:solidFill>
                  </a:tcPr>
                </a:tc>
              </a:tr>
              <a:tr h="666750">
                <a:tc>
                  <a:txBody>
                    <a:bodyPr/>
                    <a:lstStyle/>
                    <a:p>
                      <a:r>
                        <a:rPr sz="1650" b="0">
                          <a:solidFill>
                            <a:srgbClr val="172C3D"/>
                          </a:solidFill>
                          <a:latin typeface="Arial"/>
                          <a:ea typeface="Arial"/>
                          <a:cs typeface="Arial"/>
                        </a:rPr>
                        <a:t>Assumed potential difference</a:t>
                      </a:r>
                    </a:p>
                  </a:txBody>
                  <a:tcPr marL="91440" marR="91440" marT="45720" marB="45720">
                    <a:solidFill>
                      <a:srgbClr val="F3F8F9"/>
                    </a:solidFill>
                  </a:tcPr>
                </a:tc>
                <a:tc>
                  <a:txBody>
                    <a:bodyPr/>
                    <a:lstStyle/>
                    <a:p>
                      <a:r>
                        <a:rPr sz="1650" b="0">
                          <a:solidFill>
                            <a:srgbClr val="172C3D"/>
                          </a:solidFill>
                          <a:latin typeface="Arial"/>
                          <a:ea typeface="Arial"/>
                          <a:cs typeface="Arial"/>
                        </a:rPr>
                        <a:t>98.0665 m²/s²</a:t>
                      </a:r>
                    </a:p>
                  </a:txBody>
                  <a:tcPr marL="91440" marR="91440" marT="45720" marB="45720">
                    <a:solidFill>
                      <a:srgbClr val="F3F8F9"/>
                    </a:solidFill>
                  </a:tcPr>
                </a:tc>
                <a:tc>
                  <a:txBody>
                    <a:bodyPr/>
                    <a:lstStyle/>
                    <a:p>
                      <a:r>
                        <a:rPr sz="1650" b="0">
                          <a:solidFill>
                            <a:srgbClr val="172C3D"/>
                          </a:solidFill>
                          <a:latin typeface="Arial"/>
                          <a:ea typeface="Arial"/>
                          <a:cs typeface="Arial"/>
                        </a:rPr>
                        <a:t>980.665 m²/s²</a:t>
                      </a:r>
                    </a:p>
                  </a:txBody>
                  <a:tcPr marL="91440" marR="91440" marT="45720" marB="45720">
                    <a:solidFill>
                      <a:srgbClr val="F3F8F9"/>
                    </a:solidFill>
                  </a:tcPr>
                </a:tc>
              </a:tr>
              <a:tr h="666750">
                <a:tc>
                  <a:txBody>
                    <a:bodyPr/>
                    <a:lstStyle/>
                    <a:p>
                      <a:r>
                        <a:rPr sz="1650" b="0">
                          <a:solidFill>
                            <a:srgbClr val="172C3D"/>
                          </a:solidFill>
                          <a:latin typeface="Arial"/>
                          <a:ea typeface="Arial"/>
                          <a:cs typeface="Arial"/>
                        </a:rPr>
                        <a:t>Fractional clock-rate difference</a:t>
                      </a:r>
                    </a:p>
                  </a:txBody>
                  <a:tcPr marL="91440" marR="91440" marT="45720" marB="45720">
                    <a:solidFill>
                      <a:srgbClr val="FFFFFF"/>
                    </a:solidFill>
                  </a:tcPr>
                </a:tc>
                <a:tc>
                  <a:txBody>
                    <a:bodyPr/>
                    <a:lstStyle/>
                    <a:p>
                      <a:r>
                        <a:rPr sz="1650" b="0">
                          <a:solidFill>
                            <a:srgbClr val="172C3D"/>
                          </a:solidFill>
                          <a:latin typeface="Arial"/>
                          <a:ea typeface="Arial"/>
                          <a:cs typeface="Arial"/>
                        </a:rPr>
                        <a:t>1.0911 × 10⁻¹⁵</a:t>
                      </a:r>
                    </a:p>
                  </a:txBody>
                  <a:tcPr marL="91440" marR="91440" marT="45720" marB="45720">
                    <a:solidFill>
                      <a:srgbClr val="FFFFFF"/>
                    </a:solidFill>
                  </a:tcPr>
                </a:tc>
                <a:tc>
                  <a:txBody>
                    <a:bodyPr/>
                    <a:lstStyle/>
                    <a:p>
                      <a:r>
                        <a:rPr sz="1650" b="0">
                          <a:solidFill>
                            <a:srgbClr val="172C3D"/>
                          </a:solidFill>
                          <a:latin typeface="Arial"/>
                          <a:ea typeface="Arial"/>
                          <a:cs typeface="Arial"/>
                        </a:rPr>
                        <a:t>1.0911 × 10⁻¹⁴</a:t>
                      </a:r>
                    </a:p>
                  </a:txBody>
                  <a:tcPr marL="91440" marR="91440" marT="45720" marB="45720">
                    <a:solidFill>
                      <a:srgbClr val="FFFFFF"/>
                    </a:solidFill>
                  </a:tcPr>
                </a:tc>
              </a:tr>
              <a:tr h="666750">
                <a:tc>
                  <a:txBody>
                    <a:bodyPr/>
                    <a:lstStyle/>
                    <a:p>
                      <a:r>
                        <a:rPr sz="1650" b="0">
                          <a:solidFill>
                            <a:srgbClr val="172C3D"/>
                          </a:solidFill>
                          <a:latin typeface="Arial"/>
                          <a:ea typeface="Arial"/>
                          <a:cs typeface="Arial"/>
                        </a:rPr>
                        <a:t>Differential clock frequency</a:t>
                      </a:r>
                    </a:p>
                  </a:txBody>
                  <a:tcPr marL="91440" marR="91440" marT="45720" marB="45720">
                    <a:solidFill>
                      <a:srgbClr val="F3F8F9"/>
                    </a:solidFill>
                  </a:tcPr>
                </a:tc>
                <a:tc>
                  <a:txBody>
                    <a:bodyPr/>
                    <a:lstStyle/>
                    <a:p>
                      <a:r>
                        <a:rPr sz="1650" b="0">
                          <a:solidFill>
                            <a:srgbClr val="172C3D"/>
                          </a:solidFill>
                          <a:latin typeface="Arial"/>
                          <a:ea typeface="Arial"/>
                          <a:cs typeface="Arial"/>
                        </a:rPr>
                        <a:t>0.5655 Hz</a:t>
                      </a:r>
                    </a:p>
                  </a:txBody>
                  <a:tcPr marL="91440" marR="91440" marT="45720" marB="45720">
                    <a:solidFill>
                      <a:srgbClr val="F3F8F9"/>
                    </a:solidFill>
                  </a:tcPr>
                </a:tc>
                <a:tc>
                  <a:txBody>
                    <a:bodyPr/>
                    <a:lstStyle/>
                    <a:p>
                      <a:r>
                        <a:rPr sz="1650" b="0">
                          <a:solidFill>
                            <a:srgbClr val="172C3D"/>
                          </a:solidFill>
                          <a:latin typeface="Arial"/>
                          <a:ea typeface="Arial"/>
                          <a:cs typeface="Arial"/>
                        </a:rPr>
                        <a:t>5.6553 Hz</a:t>
                      </a:r>
                    </a:p>
                  </a:txBody>
                  <a:tcPr marL="91440" marR="91440" marT="45720" marB="45720">
                    <a:solidFill>
                      <a:srgbClr val="F3F8F9"/>
                    </a:solidFill>
                  </a:tcPr>
                </a:tc>
              </a:tr>
              <a:tr h="666750">
                <a:tc>
                  <a:txBody>
                    <a:bodyPr/>
                    <a:lstStyle/>
                    <a:p>
                      <a:r>
                        <a:rPr sz="1650" b="0">
                          <a:solidFill>
                            <a:srgbClr val="172C3D"/>
                          </a:solidFill>
                          <a:latin typeface="Arial"/>
                          <a:ea typeface="Arial"/>
                          <a:cs typeface="Arial"/>
                        </a:rPr>
                        <a:t>Relative phase after 1 s</a:t>
                      </a:r>
                    </a:p>
                  </a:txBody>
                  <a:tcPr marL="91440" marR="91440" marT="45720" marB="45720">
                    <a:solidFill>
                      <a:srgbClr val="FFFFFF"/>
                    </a:solidFill>
                  </a:tcPr>
                </a:tc>
                <a:tc>
                  <a:txBody>
                    <a:bodyPr/>
                    <a:lstStyle/>
                    <a:p>
                      <a:r>
                        <a:rPr sz="1650" b="0">
                          <a:solidFill>
                            <a:srgbClr val="172C3D"/>
                          </a:solidFill>
                          <a:latin typeface="Arial"/>
                          <a:ea typeface="Arial"/>
                          <a:cs typeface="Arial"/>
                        </a:rPr>
                        <a:t>3.5533 rad</a:t>
                      </a:r>
                    </a:p>
                  </a:txBody>
                  <a:tcPr marL="91440" marR="91440" marT="45720" marB="45720">
                    <a:solidFill>
                      <a:srgbClr val="FFFFFF"/>
                    </a:solidFill>
                  </a:tcPr>
                </a:tc>
                <a:tc>
                  <a:txBody>
                    <a:bodyPr/>
                    <a:lstStyle/>
                    <a:p>
                      <a:r>
                        <a:rPr sz="1650" b="0">
                          <a:solidFill>
                            <a:srgbClr val="172C3D"/>
                          </a:solidFill>
                          <a:latin typeface="Arial"/>
                          <a:ea typeface="Arial"/>
                          <a:cs typeface="Arial"/>
                        </a:rPr>
                        <a:t>35.5334 rad</a:t>
                      </a:r>
                    </a:p>
                  </a:txBody>
                  <a:tcPr marL="91440" marR="91440" marT="45720" marB="45720">
                    <a:solidFill>
                      <a:srgbClr val="FFFFFF"/>
                    </a:solidFill>
                  </a:tcPr>
                </a:tc>
              </a:tr>
              <a:tr h="666750">
                <a:tc>
                  <a:txBody>
                    <a:bodyPr/>
                    <a:lstStyle/>
                    <a:p>
                      <a:r>
                        <a:rPr sz="1650" b="0">
                          <a:solidFill>
                            <a:srgbClr val="172C3D"/>
                          </a:solidFill>
                          <a:latin typeface="Arial"/>
                          <a:ea typeface="Arial"/>
                          <a:cs typeface="Arial"/>
                        </a:rPr>
                        <a:t>Time for 0.5 rad</a:t>
                      </a:r>
                    </a:p>
                  </a:txBody>
                  <a:tcPr marL="91440" marR="91440" marT="45720" marB="45720">
                    <a:solidFill>
                      <a:srgbClr val="F3F8F9"/>
                    </a:solidFill>
                  </a:tcPr>
                </a:tc>
                <a:tc>
                  <a:txBody>
                    <a:bodyPr/>
                    <a:lstStyle/>
                    <a:p>
                      <a:r>
                        <a:rPr sz="1650" b="0">
                          <a:solidFill>
                            <a:srgbClr val="172C3D"/>
                          </a:solidFill>
                          <a:latin typeface="Arial"/>
                          <a:ea typeface="Arial"/>
                          <a:cs typeface="Arial"/>
                        </a:rPr>
                        <a:t>140.7 ms</a:t>
                      </a:r>
                    </a:p>
                  </a:txBody>
                  <a:tcPr marL="91440" marR="91440" marT="45720" marB="45720">
                    <a:solidFill>
                      <a:srgbClr val="F3F8F9"/>
                    </a:solidFill>
                  </a:tcPr>
                </a:tc>
                <a:tc>
                  <a:txBody>
                    <a:bodyPr/>
                    <a:lstStyle/>
                    <a:p>
                      <a:r>
                        <a:rPr sz="1650" b="0">
                          <a:solidFill>
                            <a:srgbClr val="172C3D"/>
                          </a:solidFill>
                          <a:latin typeface="Arial"/>
                          <a:ea typeface="Arial"/>
                          <a:cs typeface="Arial"/>
                        </a:rPr>
                        <a:t>14.07 ms</a:t>
                      </a:r>
                    </a:p>
                  </a:txBody>
                  <a:tcPr marL="91440" marR="91440" marT="45720" marB="45720">
                    <a:solidFill>
                      <a:srgbClr val="F3F8F9"/>
                    </a:solidFill>
                  </a:tcPr>
                </a:tc>
              </a:tr>
            </a:tbl>
          </a:graphicData>
        </a:graphic>
      </p:graphicFrame>
      <p:sp>
        <p:nvSpPr>
          <p:cNvPr id="3" name="">
            <a:extLst xmlns:a="http://schemas.openxmlformats.org/drawingml/2006/main">
              <a:ext uri="{FF2B5EF4-FFF2-40B4-BE49-F238E27FC236}">
                <a16:creationId xmlns:a16="http://schemas.microsoft.com/office/drawing/2014/main" id="{E8FF9497-E8AA-40D5-9A93-FE7A067FD6B3}"/>
              </a:ext>
            </a:extLst>
          </p:cNvPr>
          <p:cNvSpPr>
            <a:spLocks xmlns:a="http://schemas.openxmlformats.org/drawingml/2006/main" noGrp="1"/>
          </p:cNvSpPr>
          <p:nvPr/>
        </p:nvSpPr>
        <p:spPr>
          <a:xfrm xmlns:a="http://schemas.openxmlformats.org/drawingml/2006/main">
            <a:off x="704850" y="5667375"/>
            <a:ext cx="10620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The 100 m, 1 s phase spans more than five full cycles. Phase tracking must resolve the cycle count.</a:t>
            </a:r>
          </a:p>
        </p:txBody>
      </p:sp>
    </p:spTree>
    <p:extLst>
      <p:ext uri="{BB962C8B-B14F-4D97-AF65-F5344CB8AC3E}">
        <p14:creationId xmlns:p14="http://schemas.microsoft.com/office/powerpoint/2010/main" val="20026578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F956C1-5363-4DBC-A3DD-4F7815D0F547}"/>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Opposite energy–spin correlations</a:t>
            </a:r>
          </a:p>
        </p:txBody>
      </p:sp>
      <p:sp>
        <p:nvSpPr>
          <p:cNvPr id="2" name="">
            <a:extLst xmlns:a="http://schemas.openxmlformats.org/drawingml/2006/main">
              <a:ext uri="{FF2B5EF4-FFF2-40B4-BE49-F238E27FC236}">
                <a16:creationId xmlns:a16="http://schemas.microsoft.com/office/drawing/2014/main" id="{3D948195-BF34-4C72-B8B1-58F9A1AD1F0D}"/>
              </a:ext>
            </a:extLst>
          </p:cNvPr>
          <p:cNvSpPr>
            <a:spLocks xmlns:a="http://schemas.openxmlformats.org/drawingml/2006/main" noGrp="1"/>
          </p:cNvSpPr>
          <p:nvPr/>
        </p:nvSpPr>
        <p:spPr>
          <a:xfrm xmlns:a="http://schemas.openxmlformats.org/drawingml/2006/main">
            <a:off x="704850" y="1323975"/>
            <a:ext cx="10620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72C3D"/>
                </a:solidFill>
                <a:latin typeface="Arial"/>
                <a:ea typeface="Arial"/>
                <a:cs typeface="Arial"/>
              </a:defRPr>
            </a:pPr>
            <a:r>
              <a:rPr sz="2100" b="0">
                <a:solidFill>
                  <a:srgbClr val="172C3D"/>
                </a:solidFill>
                <a:latin typeface="Arial"/>
                <a:ea typeface="Arial"/>
                <a:cs typeface="Arial"/>
              </a:rPr>
              <a:t>Each atom has a ground and excited optical clock level, plus two nuclear-spin projections.</a:t>
            </a:r>
          </a:p>
        </p:txBody>
      </p:sp>
      <p:sp>
        <p:nvSpPr>
          <p:cNvPr id="3" name="">
            <a:extLst xmlns:a="http://schemas.openxmlformats.org/drawingml/2006/main">
              <a:ext uri="{FF2B5EF4-FFF2-40B4-BE49-F238E27FC236}">
                <a16:creationId xmlns:a16="http://schemas.microsoft.com/office/drawing/2014/main" id="{58E465D3-0E8E-4035-9E94-F219B2EFB6A7}"/>
              </a:ext>
            </a:extLst>
          </p:cNvPr>
          <p:cNvSpPr>
            <a:spLocks xmlns:a="http://schemas.openxmlformats.org/drawingml/2006/main" noGrp="1"/>
          </p:cNvSpPr>
          <p:nvPr/>
        </p:nvSpPr>
        <p:spPr>
          <a:xfrm xmlns:a="http://schemas.openxmlformats.org/drawingml/2006/main">
            <a:off x="723900" y="2562225"/>
            <a:ext cx="2762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Preparation +</a:t>
            </a:r>
          </a:p>
        </p:txBody>
      </p:sp>
      <p:sp>
        <p:nvSpPr>
          <p:cNvPr id="4" name="">
            <a:extLst xmlns:a="http://schemas.openxmlformats.org/drawingml/2006/main">
              <a:ext uri="{FF2B5EF4-FFF2-40B4-BE49-F238E27FC236}">
                <a16:creationId xmlns:a16="http://schemas.microsoft.com/office/drawing/2014/main" id="{DB33F778-C8EC-4EA7-B8B6-1102740ECC8A}"/>
              </a:ext>
            </a:extLst>
          </p:cNvPr>
          <p:cNvSpPr>
            <a:spLocks xmlns:a="http://schemas.openxmlformats.org/drawingml/2006/main" noGrp="1"/>
          </p:cNvSpPr>
          <p:nvPr/>
        </p:nvSpPr>
        <p:spPr>
          <a:xfrm xmlns:a="http://schemas.openxmlformats.org/drawingml/2006/main">
            <a:off x="723900" y="30575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2C3D"/>
                </a:solidFill>
                <a:latin typeface="Arial"/>
                <a:ea typeface="Arial"/>
                <a:cs typeface="Arial"/>
              </a:defRPr>
            </a:pPr>
            <a:r>
              <a:rPr sz="1950" b="0">
                <a:solidFill>
                  <a:srgbClr val="172C3D"/>
                </a:solidFill>
                <a:latin typeface="Arial"/>
                <a:ea typeface="Arial"/>
                <a:cs typeface="Arial"/>
              </a:rPr>
              <a:t>The excited level is paired with spin up; the ground level with spin down.</a:t>
            </a:r>
          </a:p>
        </p:txBody>
      </p:sp>
      <p:sp>
        <p:nvSpPr>
          <p:cNvPr id="5" name="">
            <a:extLst xmlns:a="http://schemas.openxmlformats.org/drawingml/2006/main">
              <a:ext uri="{FF2B5EF4-FFF2-40B4-BE49-F238E27FC236}">
                <a16:creationId xmlns:a16="http://schemas.microsoft.com/office/drawing/2014/main" id="{76A41470-6F95-4F09-A7D6-B797C087C55D}"/>
              </a:ext>
            </a:extLst>
          </p:cNvPr>
          <p:cNvSpPr>
            <a:spLocks xmlns:a="http://schemas.openxmlformats.org/drawingml/2006/main" noGrp="1"/>
          </p:cNvSpPr>
          <p:nvPr/>
        </p:nvSpPr>
        <p:spPr>
          <a:xfrm xmlns:a="http://schemas.openxmlformats.org/drawingml/2006/main">
            <a:off x="6238875" y="2562225"/>
            <a:ext cx="2762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Preparation −</a:t>
            </a:r>
          </a:p>
        </p:txBody>
      </p:sp>
      <p:sp>
        <p:nvSpPr>
          <p:cNvPr id="6" name="">
            <a:extLst xmlns:a="http://schemas.openxmlformats.org/drawingml/2006/main">
              <a:ext uri="{FF2B5EF4-FFF2-40B4-BE49-F238E27FC236}">
                <a16:creationId xmlns:a16="http://schemas.microsoft.com/office/drawing/2014/main" id="{1813BDD8-5A47-415B-832B-2E1FB7C27C1C}"/>
              </a:ext>
            </a:extLst>
          </p:cNvPr>
          <p:cNvSpPr>
            <a:spLocks xmlns:a="http://schemas.openxmlformats.org/drawingml/2006/main" noGrp="1"/>
          </p:cNvSpPr>
          <p:nvPr/>
        </p:nvSpPr>
        <p:spPr>
          <a:xfrm xmlns:a="http://schemas.openxmlformats.org/drawingml/2006/main">
            <a:off x="6238875" y="30575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2C3D"/>
                </a:solidFill>
                <a:latin typeface="Arial"/>
                <a:ea typeface="Arial"/>
                <a:cs typeface="Arial"/>
              </a:defRPr>
            </a:pPr>
            <a:r>
              <a:rPr sz="1950" b="0">
                <a:solidFill>
                  <a:srgbClr val="172C3D"/>
                </a:solidFill>
                <a:latin typeface="Arial"/>
                <a:ea typeface="Arial"/>
                <a:cs typeface="Arial"/>
              </a:rPr>
              <a:t>The excited level is paired with spin down; the ground level with spin up.</a:t>
            </a:r>
          </a:p>
        </p:txBody>
      </p:sp>
      <p:sp>
        <p:nvSpPr>
          <p:cNvPr id="7" name="">
            <a:extLst xmlns:a="http://schemas.openxmlformats.org/drawingml/2006/main">
              <a:ext uri="{FF2B5EF4-FFF2-40B4-BE49-F238E27FC236}">
                <a16:creationId xmlns:a16="http://schemas.microsoft.com/office/drawing/2014/main" id="{A6612D38-EDEC-476B-AC78-3F69009B54FD}"/>
              </a:ext>
            </a:extLst>
          </p:cNvPr>
          <p:cNvSpPr>
            <a:spLocks xmlns:a="http://schemas.openxmlformats.org/drawingml/2006/main" noGrp="1"/>
          </p:cNvSpPr>
          <p:nvPr/>
        </p:nvSpPr>
        <p:spPr>
          <a:xfrm xmlns:a="http://schemas.openxmlformats.org/drawingml/2006/main">
            <a:off x="704850" y="4962525"/>
            <a:ext cx="10620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Both states contain one excitation and have the same local energy and spin populations.</a:t>
            </a:r>
          </a:p>
        </p:txBody>
      </p:sp>
    </p:spTree>
    <p:extLst>
      <p:ext uri="{BB962C8B-B14F-4D97-AF65-F5344CB8AC3E}">
        <p14:creationId xmlns:p14="http://schemas.microsoft.com/office/powerpoint/2010/main" val="13949277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2432EC-C917-48DB-A9A9-D40B5001C8A5}"/>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Gravity changes the relative clock phase</a:t>
            </a:r>
          </a:p>
        </p:txBody>
      </p:sp>
      <p:sp>
        <p:nvSpPr>
          <p:cNvPr id="2" name="">
            <a:extLst xmlns:a="http://schemas.openxmlformats.org/drawingml/2006/main">
              <a:ext uri="{FF2B5EF4-FFF2-40B4-BE49-F238E27FC236}">
                <a16:creationId xmlns:a16="http://schemas.microsoft.com/office/drawing/2014/main" id="{67043E5F-BD87-4089-96BB-CFED4D93DC65}"/>
              </a:ext>
            </a:extLst>
          </p:cNvPr>
          <p:cNvSpPr>
            <a:spLocks xmlns:a="http://schemas.openxmlformats.org/drawingml/2006/main" noGrp="1"/>
          </p:cNvSpPr>
          <p:nvPr/>
        </p:nvSpPr>
        <p:spPr>
          <a:xfrm xmlns:a="http://schemas.openxmlformats.org/drawingml/2006/main">
            <a:off x="704850" y="1590675"/>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Δν/ν₀ = ΔU/c²</a:t>
            </a:r>
          </a:p>
        </p:txBody>
      </p:sp>
      <p:sp>
        <p:nvSpPr>
          <p:cNvPr id="3" name="">
            <a:extLst xmlns:a="http://schemas.openxmlformats.org/drawingml/2006/main">
              <a:ext uri="{FF2B5EF4-FFF2-40B4-BE49-F238E27FC236}">
                <a16:creationId xmlns:a16="http://schemas.microsoft.com/office/drawing/2014/main" id="{8AD5A934-5091-4AB3-B9B4-121D2F786317}"/>
              </a:ext>
            </a:extLst>
          </p:cNvPr>
          <p:cNvSpPr>
            <a:spLocks xmlns:a="http://schemas.openxmlformats.org/drawingml/2006/main" noGrp="1"/>
          </p:cNvSpPr>
          <p:nvPr/>
        </p:nvSpPr>
        <p:spPr>
          <a:xfrm xmlns:a="http://schemas.openxmlformats.org/drawingml/2006/main">
            <a:off x="704850" y="264795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x = (ΔE/ℏ) Δτ</a:t>
            </a:r>
          </a:p>
        </p:txBody>
      </p:sp>
      <p:sp>
        <p:nvSpPr>
          <p:cNvPr id="4" name="">
            <a:extLst xmlns:a="http://schemas.openxmlformats.org/drawingml/2006/main">
              <a:ext uri="{FF2B5EF4-FFF2-40B4-BE49-F238E27FC236}">
                <a16:creationId xmlns:a16="http://schemas.microsoft.com/office/drawing/2014/main" id="{F4050827-8AEE-4543-A56D-E2388358B2F2}"/>
              </a:ext>
            </a:extLst>
          </p:cNvPr>
          <p:cNvSpPr>
            <a:spLocks xmlns:a="http://schemas.openxmlformats.org/drawingml/2006/main" noGrp="1"/>
          </p:cNvSpPr>
          <p:nvPr/>
        </p:nvSpPr>
        <p:spPr>
          <a:xfrm xmlns:a="http://schemas.openxmlformats.org/drawingml/2006/main">
            <a:off x="704850" y="3876675"/>
            <a:ext cx="106203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2C3D"/>
                </a:solidFill>
                <a:latin typeface="Arial"/>
                <a:ea typeface="Arial"/>
                <a:cs typeface="Arial"/>
              </a:defRPr>
            </a:pPr>
            <a:r>
              <a:rPr sz="1950" b="0">
                <a:solidFill>
                  <a:srgbClr val="172C3D"/>
                </a:solidFill>
                <a:latin typeface="Arial"/>
                <a:ea typeface="Arial"/>
                <a:cs typeface="Arial"/>
              </a:rPr>
              <a:t>The alternative with the excitation higher in the building evolves relative to the alternative with the excitation lower down. Spectroscopy fixes ΔE. An independent potential survey and interrogation time fix the predicted Δτ.</a:t>
            </a:r>
          </a:p>
        </p:txBody>
      </p:sp>
    </p:spTree>
    <p:extLst>
      <p:ext uri="{BB962C8B-B14F-4D97-AF65-F5344CB8AC3E}">
        <p14:creationId xmlns:p14="http://schemas.microsoft.com/office/powerpoint/2010/main" val="21093715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F1A1BA-960E-41AC-853F-659E31CBAD62}"/>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Joint measurements reveal the shared phase</a:t>
            </a:r>
          </a:p>
        </p:txBody>
      </p:sp>
      <p:sp>
        <p:nvSpPr>
          <p:cNvPr id="2" name="">
            <a:extLst xmlns:a="http://schemas.openxmlformats.org/drawingml/2006/main">
              <a:ext uri="{FF2B5EF4-FFF2-40B4-BE49-F238E27FC236}">
                <a16:creationId xmlns:a16="http://schemas.microsoft.com/office/drawing/2014/main" id="{5D8F92C1-4ACF-46F3-BA9A-E6E05BAA584B}"/>
              </a:ext>
            </a:extLst>
          </p:cNvPr>
          <p:cNvSpPr>
            <a:spLocks xmlns:a="http://schemas.openxmlformats.org/drawingml/2006/main" noGrp="1"/>
          </p:cNvSpPr>
          <p:nvPr/>
        </p:nvSpPr>
        <p:spPr>
          <a:xfrm xmlns:a="http://schemas.openxmlformats.org/drawingml/2006/main">
            <a:off x="704850" y="1362075"/>
            <a:ext cx="10620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72C3D"/>
                </a:solidFill>
                <a:latin typeface="Arial"/>
                <a:ea typeface="Arial"/>
                <a:cs typeface="Arial"/>
              </a:defRPr>
            </a:pPr>
            <a:r>
              <a:rPr sz="2100" b="0">
                <a:solidFill>
                  <a:srgbClr val="172C3D"/>
                </a:solidFill>
                <a:latin typeface="Arial"/>
                <a:ea typeface="Arial"/>
                <a:cs typeface="Arial"/>
              </a:rPr>
              <a:t>Calibrated local analysis pulses turn the relative phase into matching or different joint outcomes. Excitation counts alone cannot reveal that phase.</a:t>
            </a:r>
          </a:p>
        </p:txBody>
      </p:sp>
      <p:sp>
        <p:nvSpPr>
          <p:cNvPr id="3" name="">
            <a:extLst xmlns:a="http://schemas.openxmlformats.org/drawingml/2006/main">
              <a:ext uri="{FF2B5EF4-FFF2-40B4-BE49-F238E27FC236}">
                <a16:creationId xmlns:a16="http://schemas.microsoft.com/office/drawing/2014/main" id="{2165617C-F0DF-499F-922D-7AB40AE949F0}"/>
              </a:ext>
            </a:extLst>
          </p:cNvPr>
          <p:cNvSpPr>
            <a:spLocks xmlns:a="http://schemas.openxmlformats.org/drawingml/2006/main" noGrp="1"/>
          </p:cNvSpPr>
          <p:nvPr/>
        </p:nvSpPr>
        <p:spPr>
          <a:xfrm xmlns:a="http://schemas.openxmlformats.org/drawingml/2006/main">
            <a:off x="704850" y="3114675"/>
            <a:ext cx="10620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72C3D"/>
                </a:solidFill>
                <a:latin typeface="Arial"/>
                <a:ea typeface="Arial"/>
                <a:cs typeface="Arial"/>
              </a:defRPr>
            </a:pPr>
            <a:r>
              <a:rPr sz="2100" b="0">
                <a:solidFill>
                  <a:srgbClr val="172C3D"/>
                </a:solidFill>
                <a:latin typeface="Arial"/>
                <a:ea typeface="Arial"/>
                <a:cs typeface="Arial"/>
              </a:rPr>
              <a:t>Measurements in complementary bases test the shared Bell coherence. The same populations could also come from an incoherent mixture.</a:t>
            </a:r>
          </a:p>
        </p:txBody>
      </p:sp>
      <p:sp>
        <p:nvSpPr>
          <p:cNvPr id="4" name="">
            <a:extLst xmlns:a="http://schemas.openxmlformats.org/drawingml/2006/main">
              <a:ext uri="{FF2B5EF4-FFF2-40B4-BE49-F238E27FC236}">
                <a16:creationId xmlns:a16="http://schemas.microsoft.com/office/drawing/2014/main" id="{8B35955A-5B03-4854-860C-8E857C69CA75}"/>
              </a:ext>
            </a:extLst>
          </p:cNvPr>
          <p:cNvSpPr>
            <a:spLocks xmlns:a="http://schemas.openxmlformats.org/drawingml/2006/main" noGrp="1"/>
          </p:cNvSpPr>
          <p:nvPr/>
        </p:nvSpPr>
        <p:spPr>
          <a:xfrm xmlns:a="http://schemas.openxmlformats.org/drawingml/2006/main">
            <a:off x="704850" y="520065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Field shifts, trapping light, link phase, and readout bias must enter the uncertainty model.</a:t>
            </a:r>
          </a:p>
        </p:txBody>
      </p:sp>
    </p:spTree>
    <p:extLst>
      <p:ext uri="{BB962C8B-B14F-4D97-AF65-F5344CB8AC3E}">
        <p14:creationId xmlns:p14="http://schemas.microsoft.com/office/powerpoint/2010/main" val="18851373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5F8099-DBE2-4D62-A494-75AFA029C7D3}"/>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Ideal phase readout for the two preparations</a:t>
            </a:r>
          </a:p>
        </p:txBody>
      </p:sp>
      <p:sp>
        <p:nvSpPr>
          <p:cNvPr id="2" name="">
            <a:extLst xmlns:a="http://schemas.openxmlformats.org/drawingml/2006/main">
              <a:ext uri="{FF2B5EF4-FFF2-40B4-BE49-F238E27FC236}">
                <a16:creationId xmlns:a16="http://schemas.microsoft.com/office/drawing/2014/main" id="{3D0A8D8F-9260-413F-87D4-85D5976D5DE9}"/>
              </a:ext>
            </a:extLst>
          </p:cNvPr>
          <p:cNvSpPr>
            <a:spLocks xmlns:a="http://schemas.openxmlformats.org/drawingml/2006/main" noGrp="1"/>
          </p:cNvSpPr>
          <p:nvPr/>
        </p:nvSpPr>
        <p:spPr>
          <a:xfrm xmlns:a="http://schemas.openxmlformats.org/drawingml/2006/main">
            <a:off x="704850" y="14573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Πₛ = Cₛ cos(xₛ + sθ − φref)</a:t>
            </a:r>
          </a:p>
        </p:txBody>
      </p:sp>
      <p:sp>
        <p:nvSpPr>
          <p:cNvPr id="3" name="">
            <a:extLst xmlns:a="http://schemas.openxmlformats.org/drawingml/2006/main">
              <a:ext uri="{FF2B5EF4-FFF2-40B4-BE49-F238E27FC236}">
                <a16:creationId xmlns:a16="http://schemas.microsoft.com/office/drawing/2014/main" id="{5C53FE65-8C0F-4665-A39D-E1457AB63311}"/>
              </a:ext>
            </a:extLst>
          </p:cNvPr>
          <p:cNvSpPr>
            <a:spLocks xmlns:a="http://schemas.openxmlformats.org/drawingml/2006/main" noGrp="1"/>
          </p:cNvSpPr>
          <p:nvPr/>
        </p:nvSpPr>
        <p:spPr>
          <a:xfrm xmlns:a="http://schemas.openxmlformats.org/drawingml/2006/main">
            <a:off x="704850" y="2743200"/>
            <a:ext cx="106203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With x = 0.5 rad, θ = π/2 and perfect contrast, the predicted probability of matching outcomes is 26.0% for preparation + and 74.0% for preparation −.</a:t>
            </a:r>
          </a:p>
        </p:txBody>
      </p:sp>
      <p:sp>
        <p:nvSpPr>
          <p:cNvPr id="4" name="">
            <a:extLst xmlns:a="http://schemas.openxmlformats.org/drawingml/2006/main">
              <a:ext uri="{FF2B5EF4-FFF2-40B4-BE49-F238E27FC236}">
                <a16:creationId xmlns:a16="http://schemas.microsoft.com/office/drawing/2014/main" id="{0D7C28F6-FF5B-413F-8620-EFECF6924C83}"/>
              </a:ext>
            </a:extLst>
          </p:cNvPr>
          <p:cNvSpPr>
            <a:spLocks xmlns:a="http://schemas.openxmlformats.org/drawingml/2006/main" noGrp="1"/>
          </p:cNvSpPr>
          <p:nvPr/>
        </p:nvSpPr>
        <p:spPr>
          <a:xfrm xmlns:a="http://schemas.openxmlformats.org/drawingml/2006/main">
            <a:off x="704850" y="5133975"/>
            <a:ext cx="1062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That raw difference follows from the analysis control. The test compares the phase inferred from each pattern with its independent gravitational prediction.</a:t>
            </a:r>
          </a:p>
        </p:txBody>
      </p:sp>
    </p:spTree>
    <p:extLst>
      <p:ext uri="{BB962C8B-B14F-4D97-AF65-F5344CB8AC3E}">
        <p14:creationId xmlns:p14="http://schemas.microsoft.com/office/powerpoint/2010/main" val="8214570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AFE29D-03F3-4859-83A1-AD2088BCA4C9}"/>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Normalize each measured phase independently</a:t>
            </a:r>
          </a:p>
        </p:txBody>
      </p:sp>
      <p:sp>
        <p:nvSpPr>
          <p:cNvPr id="2" name="">
            <a:extLst xmlns:a="http://schemas.openxmlformats.org/drawingml/2006/main">
              <a:ext uri="{FF2B5EF4-FFF2-40B4-BE49-F238E27FC236}">
                <a16:creationId xmlns:a16="http://schemas.microsoft.com/office/drawing/2014/main" id="{D394C465-34DA-48B1-985A-AFA451CAC7DD}"/>
              </a:ext>
            </a:extLst>
          </p:cNvPr>
          <p:cNvSpPr>
            <a:spLocks xmlns:a="http://schemas.openxmlformats.org/drawingml/2006/main" noGrp="1"/>
          </p:cNvSpPr>
          <p:nvPr/>
        </p:nvSpPr>
        <p:spPr>
          <a:xfrm xmlns:a="http://schemas.openxmlformats.org/drawingml/2006/main">
            <a:off x="704850" y="15335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κₛ = xₛ(gravity, measured) / xₛ(GR, predicted)</a:t>
            </a:r>
          </a:p>
        </p:txBody>
      </p:sp>
      <p:sp>
        <p:nvSpPr>
          <p:cNvPr id="3" name="">
            <a:extLst xmlns:a="http://schemas.openxmlformats.org/drawingml/2006/main">
              <a:ext uri="{FF2B5EF4-FFF2-40B4-BE49-F238E27FC236}">
                <a16:creationId xmlns:a16="http://schemas.microsoft.com/office/drawing/2014/main" id="{082ADD33-447B-4999-829B-7005FD5EA744}"/>
              </a:ext>
            </a:extLst>
          </p:cNvPr>
          <p:cNvSpPr>
            <a:spLocks xmlns:a="http://schemas.openxmlformats.org/drawingml/2006/main" noGrp="1"/>
          </p:cNvSpPr>
          <p:nvPr/>
        </p:nvSpPr>
        <p:spPr>
          <a:xfrm xmlns:a="http://schemas.openxmlformats.org/drawingml/2006/main">
            <a:off x="704850" y="28003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xₛ(GR, predicted) = (ΔEₛ/ℏ)(ΔU/c²)T</a:t>
            </a:r>
          </a:p>
        </p:txBody>
      </p:sp>
      <p:sp>
        <p:nvSpPr>
          <p:cNvPr id="4" name="">
            <a:extLst xmlns:a="http://schemas.openxmlformats.org/drawingml/2006/main">
              <a:ext uri="{FF2B5EF4-FFF2-40B4-BE49-F238E27FC236}">
                <a16:creationId xmlns:a16="http://schemas.microsoft.com/office/drawing/2014/main" id="{3BC7B594-9099-4DBF-A918-E85DE9A4344C}"/>
              </a:ext>
            </a:extLst>
          </p:cNvPr>
          <p:cNvSpPr>
            <a:spLocks xmlns:a="http://schemas.openxmlformats.org/drawingml/2006/main" noGrp="1"/>
          </p:cNvSpPr>
          <p:nvPr/>
        </p:nvSpPr>
        <p:spPr>
          <a:xfrm xmlns:a="http://schemas.openxmlformats.org/drawingml/2006/main">
            <a:off x="704850" y="4381500"/>
            <a:ext cx="1062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Measure each encoding’s ΔEₛ by spectroscopy. Survey ΔU independently. Correct ordinary field and link shifts before extracting the gravitational phase.</a:t>
            </a:r>
          </a:p>
        </p:txBody>
      </p:sp>
    </p:spTree>
    <p:extLst>
      <p:ext uri="{BB962C8B-B14F-4D97-AF65-F5344CB8AC3E}">
        <p14:creationId xmlns:p14="http://schemas.microsoft.com/office/powerpoint/2010/main" val="2123595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7AC03F-40CB-4512-951B-DEBB941EB0D2}"/>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Three dimensionless responses</a:t>
            </a:r>
          </a:p>
        </p:txBody>
      </p:sp>
      <p:sp>
        <p:nvSpPr>
          <p:cNvPr id="2" name="">
            <a:extLst xmlns:a="http://schemas.openxmlformats.org/drawingml/2006/main">
              <a:ext uri="{FF2B5EF4-FFF2-40B4-BE49-F238E27FC236}">
                <a16:creationId xmlns:a16="http://schemas.microsoft.com/office/drawing/2014/main" id="{613B9AF6-EB97-4E13-8F47-038EFE3EAA0B}"/>
              </a:ext>
            </a:extLst>
          </p:cNvPr>
          <p:cNvSpPr>
            <a:spLocks xmlns:a="http://schemas.openxmlformats.org/drawingml/2006/main" noGrp="1"/>
          </p:cNvSpPr>
          <p:nvPr/>
        </p:nvSpPr>
        <p:spPr>
          <a:xfrm xmlns:a="http://schemas.openxmlformats.org/drawingml/2006/main">
            <a:off x="723900" y="14763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087F8C"/>
                </a:solidFill>
                <a:latin typeface="Arial"/>
                <a:ea typeface="Arial"/>
                <a:cs typeface="Arial"/>
              </a:defRPr>
            </a:pPr>
            <a:r>
              <a:rPr sz="3750" b="1">
                <a:solidFill>
                  <a:srgbClr val="087F8C"/>
                </a:solidFill>
                <a:latin typeface="Arial"/>
                <a:ea typeface="Arial"/>
                <a:cs typeface="Arial"/>
              </a:rPr>
              <a:t>κcl</a:t>
            </a:r>
          </a:p>
        </p:txBody>
      </p:sp>
      <p:sp>
        <p:nvSpPr>
          <p:cNvPr id="3" name="">
            <a:extLst xmlns:a="http://schemas.openxmlformats.org/drawingml/2006/main">
              <a:ext uri="{FF2B5EF4-FFF2-40B4-BE49-F238E27FC236}">
                <a16:creationId xmlns:a16="http://schemas.microsoft.com/office/drawing/2014/main" id="{FF7D0E5F-C689-4582-B7F2-91297D2D1028}"/>
              </a:ext>
            </a:extLst>
          </p:cNvPr>
          <p:cNvSpPr>
            <a:spLocks xmlns:a="http://schemas.openxmlformats.org/drawingml/2006/main" noGrp="1"/>
          </p:cNvSpPr>
          <p:nvPr/>
        </p:nvSpPr>
        <p:spPr>
          <a:xfrm xmlns:a="http://schemas.openxmlformats.org/drawingml/2006/main">
            <a:off x="733425" y="21431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Conventional clock redshift</a:t>
            </a:r>
          </a:p>
        </p:txBody>
      </p:sp>
      <p:sp>
        <p:nvSpPr>
          <p:cNvPr id="4" name="">
            <a:extLst xmlns:a="http://schemas.openxmlformats.org/drawingml/2006/main">
              <a:ext uri="{FF2B5EF4-FFF2-40B4-BE49-F238E27FC236}">
                <a16:creationId xmlns:a16="http://schemas.microsoft.com/office/drawing/2014/main" id="{E1839967-86F9-4D17-A021-388176661835}"/>
              </a:ext>
            </a:extLst>
          </p:cNvPr>
          <p:cNvSpPr>
            <a:spLocks xmlns:a="http://schemas.openxmlformats.org/drawingml/2006/main" noGrp="1"/>
          </p:cNvSpPr>
          <p:nvPr/>
        </p:nvSpPr>
        <p:spPr>
          <a:xfrm xmlns:a="http://schemas.openxmlformats.org/drawingml/2006/main">
            <a:off x="4333875" y="14763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κ₀ = (κ₊ + κ₋)/2</a:t>
            </a:r>
          </a:p>
        </p:txBody>
      </p:sp>
      <p:sp>
        <p:nvSpPr>
          <p:cNvPr id="5" name="">
            <a:extLst xmlns:a="http://schemas.openxmlformats.org/drawingml/2006/main">
              <a:ext uri="{FF2B5EF4-FFF2-40B4-BE49-F238E27FC236}">
                <a16:creationId xmlns:a16="http://schemas.microsoft.com/office/drawing/2014/main" id="{3A8C9EE8-2C0C-4D4F-8389-9DEE4A98E024}"/>
              </a:ext>
            </a:extLst>
          </p:cNvPr>
          <p:cNvSpPr>
            <a:spLocks xmlns:a="http://schemas.openxmlformats.org/drawingml/2006/main" noGrp="1"/>
          </p:cNvSpPr>
          <p:nvPr/>
        </p:nvSpPr>
        <p:spPr>
          <a:xfrm xmlns:a="http://schemas.openxmlformats.org/drawingml/2006/main">
            <a:off x="4362450" y="2143125"/>
            <a:ext cx="566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Mean correlated response</a:t>
            </a:r>
          </a:p>
        </p:txBody>
      </p:sp>
      <p:sp>
        <p:nvSpPr>
          <p:cNvPr id="6" name="">
            <a:extLst xmlns:a="http://schemas.openxmlformats.org/drawingml/2006/main">
              <a:ext uri="{FF2B5EF4-FFF2-40B4-BE49-F238E27FC236}">
                <a16:creationId xmlns:a16="http://schemas.microsoft.com/office/drawing/2014/main" id="{7B4568AA-10B3-4426-8958-CBDDDE116619}"/>
              </a:ext>
            </a:extLst>
          </p:cNvPr>
          <p:cNvSpPr>
            <a:spLocks xmlns:a="http://schemas.openxmlformats.org/drawingml/2006/main" noGrp="1"/>
          </p:cNvSpPr>
          <p:nvPr/>
        </p:nvSpPr>
        <p:spPr>
          <a:xfrm xmlns:a="http://schemas.openxmlformats.org/drawingml/2006/main">
            <a:off x="723900" y="33337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ηES = (κ₊ − κ₋)/2</a:t>
            </a:r>
          </a:p>
        </p:txBody>
      </p:sp>
      <p:sp>
        <p:nvSpPr>
          <p:cNvPr id="7" name="">
            <a:extLst xmlns:a="http://schemas.openxmlformats.org/drawingml/2006/main">
              <a:ext uri="{FF2B5EF4-FFF2-40B4-BE49-F238E27FC236}">
                <a16:creationId xmlns:a16="http://schemas.microsoft.com/office/drawing/2014/main" id="{95581FB9-56C6-4809-A36E-27C73E40162B}"/>
              </a:ext>
            </a:extLst>
          </p:cNvPr>
          <p:cNvSpPr>
            <a:spLocks xmlns:a="http://schemas.openxmlformats.org/drawingml/2006/main" noGrp="1"/>
          </p:cNvSpPr>
          <p:nvPr/>
        </p:nvSpPr>
        <p:spPr>
          <a:xfrm xmlns:a="http://schemas.openxmlformats.org/drawingml/2006/main">
            <a:off x="733425" y="4000500"/>
            <a:ext cx="781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72C3D"/>
                </a:solidFill>
                <a:latin typeface="Arial"/>
                <a:ea typeface="Arial"/>
                <a:cs typeface="Arial"/>
              </a:defRPr>
            </a:pPr>
            <a:r>
              <a:rPr sz="1875" b="0">
                <a:solidFill>
                  <a:srgbClr val="172C3D"/>
                </a:solidFill>
                <a:latin typeface="Arial"/>
                <a:ea typeface="Arial"/>
                <a:cs typeface="Arial"/>
              </a:rPr>
              <a:t>Correlation-dependent half-difference</a:t>
            </a:r>
          </a:p>
        </p:txBody>
      </p:sp>
      <p:sp>
        <p:nvSpPr>
          <p:cNvPr id="8" name="">
            <a:extLst xmlns:a="http://schemas.openxmlformats.org/drawingml/2006/main">
              <a:ext uri="{FF2B5EF4-FFF2-40B4-BE49-F238E27FC236}">
                <a16:creationId xmlns:a16="http://schemas.microsoft.com/office/drawing/2014/main" id="{54E9143C-E6F4-4FC9-B29D-D15AA90812EF}"/>
              </a:ext>
            </a:extLst>
          </p:cNvPr>
          <p:cNvSpPr>
            <a:spLocks xmlns:a="http://schemas.openxmlformats.org/drawingml/2006/main" noGrp="1"/>
          </p:cNvSpPr>
          <p:nvPr/>
        </p:nvSpPr>
        <p:spPr>
          <a:xfrm xmlns:a="http://schemas.openxmlformats.org/drawingml/2006/main">
            <a:off x="704850" y="5219700"/>
            <a:ext cx="10620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36778"/>
                </a:solidFill>
                <a:latin typeface="Arial"/>
                <a:ea typeface="Arial"/>
                <a:cs typeface="Arial"/>
              </a:defRPr>
            </a:pPr>
            <a:r>
              <a:rPr sz="1425" b="0">
                <a:solidFill>
                  <a:srgbClr val="536778"/>
                </a:solidFill>
                <a:latin typeface="Arial"/>
                <a:ea typeface="Arial"/>
                <a:cs typeface="Arial"/>
              </a:rPr>
              <a:t>Standard prediction: κcl = 1, κ₀ = 1, ηES = 0. These are test coefficients, not established new constants.</a:t>
            </a:r>
          </a:p>
        </p:txBody>
      </p:sp>
    </p:spTree>
    <p:extLst>
      <p:ext uri="{BB962C8B-B14F-4D97-AF65-F5344CB8AC3E}">
        <p14:creationId xmlns:p14="http://schemas.microsoft.com/office/powerpoint/2010/main" val="13206663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79B331-7FB7-4813-AC79-F872CA7A126A}"/>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What a credible measurement requires</a:t>
            </a:r>
          </a:p>
        </p:txBody>
      </p:sp>
      <p:sp>
        <p:nvSpPr>
          <p:cNvPr id="2" name="">
            <a:extLst xmlns:a="http://schemas.openxmlformats.org/drawingml/2006/main">
              <a:ext uri="{FF2B5EF4-FFF2-40B4-BE49-F238E27FC236}">
                <a16:creationId xmlns:a16="http://schemas.microsoft.com/office/drawing/2014/main" id="{1E2FCD5B-86AA-40EB-910D-D014602B795E}"/>
              </a:ext>
            </a:extLst>
          </p:cNvPr>
          <p:cNvSpPr>
            <a:spLocks xmlns:a="http://schemas.openxmlformats.org/drawingml/2006/main" noGrp="1"/>
          </p:cNvSpPr>
          <p:nvPr/>
        </p:nvSpPr>
        <p:spPr>
          <a:xfrm xmlns:a="http://schemas.openxmlformats.org/drawingml/2006/main">
            <a:off x="704850" y="1400175"/>
            <a:ext cx="10620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Independent geometry and gravimetry define the potential. Spectroscopy measures each encoding's true energy gap.</a:t>
            </a:r>
          </a:p>
        </p:txBody>
      </p:sp>
      <p:sp>
        <p:nvSpPr>
          <p:cNvPr id="3" name="">
            <a:extLst xmlns:a="http://schemas.openxmlformats.org/drawingml/2006/main">
              <a:ext uri="{FF2B5EF4-FFF2-40B4-BE49-F238E27FC236}">
                <a16:creationId xmlns:a16="http://schemas.microsoft.com/office/drawing/2014/main" id="{388AD67D-6305-4013-8460-7A2555D0E3BA}"/>
              </a:ext>
            </a:extLst>
          </p:cNvPr>
          <p:cNvSpPr>
            <a:spLocks xmlns:a="http://schemas.openxmlformats.org/drawingml/2006/main" noGrp="1"/>
          </p:cNvSpPr>
          <p:nvPr/>
        </p:nvSpPr>
        <p:spPr>
          <a:xfrm xmlns:a="http://schemas.openxmlformats.org/drawingml/2006/main">
            <a:off x="704850" y="2752725"/>
            <a:ext cx="10620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A height scan helps separate gravitational slope from a height-independent frequency offset. Height-dependent field shifts still need calibration.</a:t>
            </a:r>
          </a:p>
        </p:txBody>
      </p:sp>
      <p:sp>
        <p:nvSpPr>
          <p:cNvPr id="4" name="">
            <a:extLst xmlns:a="http://schemas.openxmlformats.org/drawingml/2006/main">
              <a:ext uri="{FF2B5EF4-FFF2-40B4-BE49-F238E27FC236}">
                <a16:creationId xmlns:a16="http://schemas.microsoft.com/office/drawing/2014/main" id="{E22F6BE1-6A1F-438A-9693-72151067B055}"/>
              </a:ext>
            </a:extLst>
          </p:cNvPr>
          <p:cNvSpPr>
            <a:spLocks xmlns:a="http://schemas.openxmlformats.org/drawingml/2006/main" noGrp="1"/>
          </p:cNvSpPr>
          <p:nvPr/>
        </p:nvSpPr>
        <p:spPr>
          <a:xfrm xmlns:a="http://schemas.openxmlformats.org/drawingml/2006/main">
            <a:off x="704850" y="4400550"/>
            <a:ext cx="1062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72C3D"/>
                </a:solidFill>
                <a:latin typeface="Arial"/>
                <a:ea typeface="Arial"/>
                <a:cs typeface="Arial"/>
              </a:defRPr>
            </a:pPr>
            <a:r>
              <a:rPr sz="2025" b="0">
                <a:solidFill>
                  <a:srgbClr val="172C3D"/>
                </a:solidFill>
                <a:latin typeface="Arial"/>
                <a:ea typeface="Arial"/>
                <a:cs typeface="Arial"/>
              </a:rPr>
              <a:t>Complementary-basis measurements verify Bell coherence. Blinded confirmatory data and a retained covariance model test the fitted response.</a:t>
            </a:r>
          </a:p>
        </p:txBody>
      </p:sp>
    </p:spTree>
    <p:extLst>
      <p:ext uri="{BB962C8B-B14F-4D97-AF65-F5344CB8AC3E}">
        <p14:creationId xmlns:p14="http://schemas.microsoft.com/office/powerpoint/2010/main" val="5148056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887F8D-ACDF-456B-9719-698EC0E8B96F}"/>
              </a:ext>
            </a:extLst>
          </p:cNvPr>
          <p:cNvSpPr>
            <a:spLocks xmlns:a="http://schemas.openxmlformats.org/drawingml/2006/main" noGrp="1"/>
          </p:cNvSpPr>
          <p:nvPr/>
        </p:nvSpPr>
        <p:spPr>
          <a:xfrm xmlns:a="http://schemas.openxmlformats.org/drawingml/2006/main">
            <a:off x="609600" y="352425"/>
            <a:ext cx="10906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02238"/>
                </a:solidFill>
                <a:latin typeface="Arial"/>
                <a:ea typeface="Arial"/>
                <a:cs typeface="Arial"/>
              </a:defRPr>
            </a:pPr>
            <a:r>
              <a:rPr sz="2700" b="1">
                <a:solidFill>
                  <a:srgbClr val="102238"/>
                </a:solidFill>
                <a:latin typeface="Arial"/>
                <a:ea typeface="Arial"/>
                <a:cs typeface="Arial"/>
              </a:rPr>
              <a:t>The proposed closure test</a:t>
            </a:r>
          </a:p>
        </p:txBody>
      </p:sp>
      <p:sp>
        <p:nvSpPr>
          <p:cNvPr id="2" name="">
            <a:extLst xmlns:a="http://schemas.openxmlformats.org/drawingml/2006/main">
              <a:ext uri="{FF2B5EF4-FFF2-40B4-BE49-F238E27FC236}">
                <a16:creationId xmlns:a16="http://schemas.microsoft.com/office/drawing/2014/main" id="{9AC3D85F-B324-4F57-9EB3-1DEB7B0A3D43}"/>
              </a:ext>
            </a:extLst>
          </p:cNvPr>
          <p:cNvSpPr>
            <a:spLocks xmlns:a="http://schemas.openxmlformats.org/drawingml/2006/main" noGrp="1"/>
          </p:cNvSpPr>
          <p:nvPr/>
        </p:nvSpPr>
        <p:spPr>
          <a:xfrm xmlns:a="http://schemas.openxmlformats.org/drawingml/2006/main">
            <a:off x="704850" y="1447800"/>
            <a:ext cx="1062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72C3D"/>
                </a:solidFill>
                <a:latin typeface="Arial"/>
                <a:ea typeface="Arial"/>
                <a:cs typeface="Arial"/>
              </a:defRPr>
            </a:pPr>
            <a:r>
              <a:rPr sz="2400" b="0">
                <a:solidFill>
                  <a:srgbClr val="172C3D"/>
                </a:solidFill>
                <a:latin typeface="Arial"/>
                <a:ea typeface="Arial"/>
                <a:cs typeface="Arial"/>
              </a:rPr>
              <a:t>One consistent response should describe the ordinary clock comparison and both opposite energy–spin preparations.</a:t>
            </a:r>
          </a:p>
        </p:txBody>
      </p:sp>
      <p:sp>
        <p:nvSpPr>
          <p:cNvPr id="3" name="">
            <a:extLst xmlns:a="http://schemas.openxmlformats.org/drawingml/2006/main">
              <a:ext uri="{FF2B5EF4-FFF2-40B4-BE49-F238E27FC236}">
                <a16:creationId xmlns:a16="http://schemas.microsoft.com/office/drawing/2014/main" id="{92F83979-50A2-4325-A9E8-1C9C4B5281BA}"/>
              </a:ext>
            </a:extLst>
          </p:cNvPr>
          <p:cNvSpPr>
            <a:spLocks xmlns:a="http://schemas.openxmlformats.org/drawingml/2006/main" noGrp="1"/>
          </p:cNvSpPr>
          <p:nvPr/>
        </p:nvSpPr>
        <p:spPr>
          <a:xfrm xmlns:a="http://schemas.openxmlformats.org/drawingml/2006/main">
            <a:off x="704850" y="32956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087F8C"/>
                </a:solidFill>
                <a:latin typeface="Arial"/>
                <a:ea typeface="Arial"/>
                <a:cs typeface="Arial"/>
              </a:defRPr>
            </a:pPr>
            <a:r>
              <a:rPr sz="3600" b="1">
                <a:solidFill>
                  <a:srgbClr val="087F8C"/>
                </a:solidFill>
                <a:latin typeface="Arial"/>
                <a:ea typeface="Arial"/>
                <a:cs typeface="Arial"/>
              </a:rPr>
              <a:t>κcl ≈ 1     κ₀ ≈ 1     ηES ≈ 0</a:t>
            </a:r>
          </a:p>
        </p:txBody>
      </p:sp>
      <p:sp>
        <p:nvSpPr>
          <p:cNvPr id="4" name="">
            <a:extLst xmlns:a="http://schemas.openxmlformats.org/drawingml/2006/main">
              <a:ext uri="{FF2B5EF4-FFF2-40B4-BE49-F238E27FC236}">
                <a16:creationId xmlns:a16="http://schemas.microsoft.com/office/drawing/2014/main" id="{0B9FB3C1-0EF6-42C5-8A06-3C0C41D64D77}"/>
              </a:ext>
            </a:extLst>
          </p:cNvPr>
          <p:cNvSpPr>
            <a:spLocks xmlns:a="http://schemas.openxmlformats.org/drawingml/2006/main" noGrp="1"/>
          </p:cNvSpPr>
          <p:nvPr/>
        </p:nvSpPr>
        <p:spPr>
          <a:xfrm xmlns:a="http://schemas.openxmlformats.org/drawingml/2006/main">
            <a:off x="704850" y="4829175"/>
            <a:ext cx="1062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72C3D"/>
                </a:solidFill>
                <a:latin typeface="Arial"/>
                <a:ea typeface="Arial"/>
                <a:cs typeface="Arial"/>
              </a:defRPr>
            </a:pPr>
            <a:r>
              <a:rPr sz="1950" b="0">
                <a:solidFill>
                  <a:srgbClr val="172C3D"/>
                </a:solidFill>
                <a:latin typeface="Arial"/>
                <a:ea typeface="Arial"/>
                <a:cs typeface="Arial"/>
              </a:rPr>
              <a:t>A residual ηES would call for replicated controls before any new gravitational interpretation.</a:t>
            </a:r>
          </a:p>
        </p:txBody>
      </p:sp>
    </p:spTree>
    <p:extLst>
      <p:ext uri="{BB962C8B-B14F-4D97-AF65-F5344CB8AC3E}">
        <p14:creationId xmlns:p14="http://schemas.microsoft.com/office/powerpoint/2010/main" val="279232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2026-09-25T13:42:22.2860000Z</dcterms:created>
  <dcterms:modified xsi:type="dcterms:W3CDTF">2026-09-25T13:42:22.2860000Z</dcterms:modified>
</coreProperties>
</file>