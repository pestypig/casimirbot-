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444fbf85ef4f9d" /><Relationship Type="http://schemas.openxmlformats.org/officeDocument/2006/relationships/extended-properties" Target="/docProps/app.xml" Id="R1067260cb98349a5" /><Relationship Type="http://schemas.openxmlformats.org/officeDocument/2006/relationships/officeDocument" Target="/ppt/presentation.xml" Id="R81fb012a2f644a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1fa20b98d140cc"/>
  </p:sldMasterIdLst>
  <p:notesMasterIdLst>
    <p:notesMasterId xmlns:r="http://schemas.openxmlformats.org/officeDocument/2006/relationships" r:id="R3b78ace9a8324b97"/>
  </p:notesMasterIdLst>
  <p:sldIdLst>
    <p:sldId xmlns:r="http://schemas.openxmlformats.org/officeDocument/2006/relationships" id="256" r:id="R5d04d55c6d5241af"/>
    <p:sldId xmlns:r="http://schemas.openxmlformats.org/officeDocument/2006/relationships" id="257" r:id="R6d54debd6b3c4415"/>
    <p:sldId xmlns:r="http://schemas.openxmlformats.org/officeDocument/2006/relationships" id="258" r:id="R8f2dba0b134f41c3"/>
    <p:sldId xmlns:r="http://schemas.openxmlformats.org/officeDocument/2006/relationships" id="259" r:id="R411af30970794aff"/>
    <p:sldId xmlns:r="http://schemas.openxmlformats.org/officeDocument/2006/relationships" id="260" r:id="R2da5418fc51f4766"/>
    <p:sldId xmlns:r="http://schemas.openxmlformats.org/officeDocument/2006/relationships" id="261" r:id="R597610f072c94f1c"/>
    <p:sldId xmlns:r="http://schemas.openxmlformats.org/officeDocument/2006/relationships" id="262" r:id="Rb07006d822c645b0"/>
    <p:sldId xmlns:r="http://schemas.openxmlformats.org/officeDocument/2006/relationships" id="263" r:id="R16ec81fc9993480a"/>
    <p:sldId xmlns:r="http://schemas.openxmlformats.org/officeDocument/2006/relationships" id="264" r:id="Rb3da9a1fae334bec"/>
    <p:sldId xmlns:r="http://schemas.openxmlformats.org/officeDocument/2006/relationships" id="265" r:id="R37c5a7c2fb7b41fb"/>
    <p:sldId xmlns:r="http://schemas.openxmlformats.org/officeDocument/2006/relationships" id="266" r:id="R81765450e2674f2f"/>
    <p:sldId xmlns:r="http://schemas.openxmlformats.org/officeDocument/2006/relationships" id="267" r:id="R7db6c14f39d042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036bc11c74055" /><Relationship Type="http://schemas.openxmlformats.org/officeDocument/2006/relationships/slideMaster" Target="/ppt/slideMasters/slideMaster1.xml" Id="Rc21fa20b98d140cc" /><Relationship Type="http://schemas.openxmlformats.org/officeDocument/2006/relationships/notesMaster" Target="/ppt/notesMasters/notesMaster1.xml" Id="R3b78ace9a8324b97" /><Relationship Type="http://schemas.openxmlformats.org/officeDocument/2006/relationships/presProps" Target="/ppt/presProps.xml" Id="Rfc501afa64c947b6" /><Relationship Type="http://schemas.openxmlformats.org/officeDocument/2006/relationships/tableStyles" Target="/ppt/tableStyles.xml" Id="R668be7a02cd14f1b" /><Relationship Type="http://schemas.openxmlformats.org/officeDocument/2006/relationships/slide" Target="/ppt/slides/slide1.xml" Id="R5d04d55c6d5241af" /><Relationship Type="http://schemas.openxmlformats.org/officeDocument/2006/relationships/slide" Target="/ppt/slides/slide2.xml" Id="R6d54debd6b3c4415" /><Relationship Type="http://schemas.openxmlformats.org/officeDocument/2006/relationships/slide" Target="/ppt/slides/slide3.xml" Id="R8f2dba0b134f41c3" /><Relationship Type="http://schemas.openxmlformats.org/officeDocument/2006/relationships/slide" Target="/ppt/slides/slide4.xml" Id="R411af30970794aff" /><Relationship Type="http://schemas.openxmlformats.org/officeDocument/2006/relationships/slide" Target="/ppt/slides/slide5.xml" Id="R2da5418fc51f4766" /><Relationship Type="http://schemas.openxmlformats.org/officeDocument/2006/relationships/slide" Target="/ppt/slides/slide6.xml" Id="R597610f072c94f1c" /><Relationship Type="http://schemas.openxmlformats.org/officeDocument/2006/relationships/slide" Target="/ppt/slides/slide7.xml" Id="Rb07006d822c645b0" /><Relationship Type="http://schemas.openxmlformats.org/officeDocument/2006/relationships/slide" Target="/ppt/slides/slide8.xml" Id="R16ec81fc9993480a" /><Relationship Type="http://schemas.openxmlformats.org/officeDocument/2006/relationships/slide" Target="/ppt/slides/slide9.xml" Id="Rb3da9a1fae334bec" /><Relationship Type="http://schemas.openxmlformats.org/officeDocument/2006/relationships/slide" Target="/ppt/slides/slide10.xml" Id="R37c5a7c2fb7b41fb" /><Relationship Type="http://schemas.openxmlformats.org/officeDocument/2006/relationships/slide" Target="/ppt/slides/slide11.xml" Id="R81765450e2674f2f" /><Relationship Type="http://schemas.openxmlformats.org/officeDocument/2006/relationships/slide" Target="/ppt/slides/slide12.xml" Id="R7db6c14f39d042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9159e8d59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ddf79b6b740cf" /><Relationship Type="http://schemas.openxmlformats.org/officeDocument/2006/relationships/notesMaster" Target="/ppt/notesMasters/notesMaster1.xml" Id="R5ab4465971414e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efc7c2d58a4ac4" /><Relationship Type="http://schemas.openxmlformats.org/officeDocument/2006/relationships/notesMaster" Target="/ppt/notesMasters/notesMaster1.xml" Id="R3cf02a423b93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ae716aa1af426c" /><Relationship Type="http://schemas.openxmlformats.org/officeDocument/2006/relationships/notesMaster" Target="/ppt/notesMasters/notesMaster1.xml" Id="R880db8d1004147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4e7f74cac64972" /><Relationship Type="http://schemas.openxmlformats.org/officeDocument/2006/relationships/notesMaster" Target="/ppt/notesMasters/notesMaster1.xml" Id="Re37579c9eadb4a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82849fccb4b82" /><Relationship Type="http://schemas.openxmlformats.org/officeDocument/2006/relationships/notesMaster" Target="/ppt/notesMasters/notesMaster1.xml" Id="R298d9154de4448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8c81759c284b5c" /><Relationship Type="http://schemas.openxmlformats.org/officeDocument/2006/relationships/notesMaster" Target="/ppt/notesMasters/notesMaster1.xml" Id="R53396242c04847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1aaead92db458c" /><Relationship Type="http://schemas.openxmlformats.org/officeDocument/2006/relationships/notesMaster" Target="/ppt/notesMasters/notesMaster1.xml" Id="R4d74e9ecb78848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40eccc6a64778" /><Relationship Type="http://schemas.openxmlformats.org/officeDocument/2006/relationships/notesMaster" Target="/ppt/notesMasters/notesMaster1.xml" Id="Raa065896a133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727f0641c54425" /><Relationship Type="http://schemas.openxmlformats.org/officeDocument/2006/relationships/notesMaster" Target="/ppt/notesMasters/notesMaster1.xml" Id="R5a9fc54738f94b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669a665a7342df" /><Relationship Type="http://schemas.openxmlformats.org/officeDocument/2006/relationships/notesMaster" Target="/ppt/notesMasters/notesMaster1.xml" Id="R8876280bb92845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4c713db7e74728" /><Relationship Type="http://schemas.openxmlformats.org/officeDocument/2006/relationships/notesMaster" Target="/ppt/notesMasters/notesMaster1.xml" Id="R76f27fed365d4b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664e198e334980" /><Relationship Type="http://schemas.openxmlformats.org/officeDocument/2006/relationships/notesMaster" Target="/ppt/notesMasters/notesMaster1.xml" Id="Rd68aead783e842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and analytic design only. Generated conceptual illustration; it does not depict a built apparatus.</a:t>
            </a:r>
          </a:p>
          <a:p xmlns:a="http://schemas.openxmlformats.org/drawingml/2006/main">
            <a:r>
              <a:t>https://chatgpt.com/share/6ab672dc-e820-83ea-a2a5-26643690422a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https://chatgpt.com/share/6ab672dc-e820-83ea-a2a5-26643690422a</a:t>
            </a:r>
          </a:p>
          <a:p xmlns:a="http://schemas.openxmlformats.org/drawingml/2006/main">
            <a:r>
              <a:t>https://www.nature.com/articles/s41534-024-00898-7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1 is generated from the shared calculation report with BIPM frequency, g=9.80665 m/s², and leading-order ΔU≈gΔz. Rounded display values are checked against source rows: [{"heightDifferenceM":0.01,"potentialDifferenceM2S2":0.0980665,"fractionalRateDifference":1.0911369672198218e-18,"frequencyDifferenceHz":0.0005655317472604153,"phaseRateRadS":0.0035533407651302407,"phaseAfterOneSecondRad":0.0035533407651302407,"secondsForHalfRadian":140.71265129047467},{"heightDifferenceM":1,"potentialDifferenceM2S2":9.80665,"fractionalRateDifference":1.0911369672198217e-16,"frequencyDifferenceHz":0.05655317472604152,"phaseRateRadS":0.355334076513024,"phaseAfterOneSecondRad":0.355334076513024,"secondsForHalfRadian":1.407126512904747},{"heightDifferenceM":10,"potentialDifferenceM2S2":98.06649999999999,"fractionalRateDifference":1.0911369672198216e-15,"frequencyDifferenceHz":0.5655317472604152,"phaseRateRadS":3.55334076513024,"phaseAfterOneSecondRad":3.55334076513024,"secondsForHalfRadian":0.1407126512904747},{"heightDifferenceM":100,"potentialDifferenceM2S2":980.665,"fractionalRateDifference":1.0911369672198217e-14,"frequencyDifferenceHz":5.655317472604152,"phaseRateRadS":35.533407651302404,"phaseAfterOneSecondRad":35.533407651302404,"secondsForHalfRadian":0.014071265129047468},{"heightDifferenceM":450,"potentialDifferenceM2S2":4412.992499999999,"fractionalRateDifference":4.910116352489197e-14,"frequencyDifferenceHz":25.448928626718683,"phaseRateRadS":159.9003344308608,"phaseAfterOneSecondRad":159.9003344308608,"secondsForHalfRadian":0.003126947806454993}]</a:t>
            </a:r>
          </a:p>
          <a:p xmlns:a="http://schemas.openxmlformats.org/drawingml/2006/main">
            <a:r>
              <a:t>https://www.bipm.org/documents/20126/288516347/171Yb_518THz_2025/73007ecc-49f5-4d1d-d8ee-6793a4748598</a:t>
            </a:r>
          </a:p>
          <a:p xmlns:a="http://schemas.openxmlformats.org/drawingml/2006/main">
            <a:r>
              <a:t>https://chatgpt.com/share/6ab672dc-e820-83ea-a2a5-26643690422a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 of Tokyo primary press release reports 450 m and (1.4 ± 9.1)×10⁻⁵.</a:t>
            </a:r>
          </a:p>
          <a:p xmlns:a="http://schemas.openxmlformats.org/drawingml/2006/main">
            <a:r>
              <a:t>https://www.t.u-tokyo.ac.jp/en/press/foee/press/setnws_202004071409047419337571.html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https://www.nature.com/articles/s41586-022-05088-z</a:t>
            </a:r>
          </a:p>
          <a:p xmlns:a="http://schemas.openxmlformats.org/drawingml/2006/main">
            <a:r>
              <a:t>https://chatgpt.com/share/6ab672dc-e820-83ea-a2a5-26643690422a</a:t>
            </a:r>
          </a:p>
          <a:p xmlns:a="http://schemas.openxmlformats.org/drawingml/2006/main">
            <a:r>
              <a:t>The full building-scale Yb-171 implementation is proposed, not demonstrated.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2 is produced from the project calculation report. Exact rows: [{"heightDifferenceM":10,"potentialDifferenceM2S2":98.06649999999999,"fractionalRateDifference":1.0911369672198216e-15,"frequencyDifferenceHz":0.5655317472604152,"phaseRateRadS":3.55334076513024,"phaseAfterOneSecondRad":3.55334076513024,"secondsForHalfRadian":0.1407126512904747},{"heightDifferenceM":100,"potentialDifferenceM2S2":980.665,"fractionalRateDifference":1.0911369672198217e-14,"frequencyDifferenceHz":5.655317472604152,"phaseRateRadS":35.533407651302404,"phaseAfterOneSecondRad":35.533407651302404,"secondsForHalfRadian":0.014071265129047468}]</a:t>
            </a:r>
          </a:p>
          <a:p xmlns:a="http://schemas.openxmlformats.org/drawingml/2006/main">
            <a:r>
              <a:t>https://www.bipm.org/documents/20126/288516347/171Yb_518THz_2025/73007ecc-49f5-4d1d-d8ee-6793a4748598</a:t>
            </a:r>
          </a:p>
          <a:p xmlns:a="http://schemas.openxmlformats.org/drawingml/2006/main">
            <a:r>
              <a:t>Assumptions: stationary weak-field clocks and constant standard gravity. Actual potential needs independent survey.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https://www.nature.com/articles/s41534-024-00898-7</a:t>
            </a:r>
          </a:p>
          <a:p xmlns:a="http://schemas.openxmlformats.org/drawingml/2006/main">
            <a:r>
              <a:t>https://chatgpt.com/share/6ab672dc-e820-83ea-a2a5-26643690422a</a:t>
            </a:r>
          </a:p>
          <a:p xmlns:a="http://schemas.openxmlformats.org/drawingml/2006/main">
            <a:r>
              <a:t>The state formulas and ideal spin-degenerate limit are in the accompanying proposal. Spin-dependent shifts must be measured in the real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https://www.bipm.org/documents/20126/288516347/171Yb_518THz_2025/73007ecc-49f5-4d1d-d8ee-6793a4748598</a:t>
            </a:r>
          </a:p>
          <a:p xmlns:a="http://schemas.openxmlformats.org/drawingml/2006/main">
            <a:r>
              <a:t>https://www.nature.com/articles/s41567-018-0197-6</a:t>
            </a:r>
          </a:p>
          <a:p xmlns:a="http://schemas.openxmlformats.org/drawingml/2006/main">
            <a:r>
              <a:t>Leading-order stationary-clock relation. The corresponding potential difference must be determined independently of the clock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https://www.nature.com/articles/s41586-022-05088-z</a:t>
            </a:r>
          </a:p>
          <a:p xmlns:a="http://schemas.openxmlformats.org/drawingml/2006/main">
            <a:r>
              <a:t>https://www.nature.com/articles/s41534-024-00898-7</a:t>
            </a:r>
          </a:p>
          <a:p xmlns:a="http://schemas.openxmlformats.org/drawingml/2006/main">
            <a:r>
              <a:t>The ideal parity readout in the shared conversation is a proposed control model, not a verified complete apparatus.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https://chatgpt.com/share/6ab672dc-e820-83ea-a2a5-26643690422a</a:t>
            </a:r>
          </a:p>
          <a:p xmlns:a="http://schemas.openxmlformats.org/drawingml/2006/main">
            <a:r>
              <a:t>https://www.nature.com/articles/s41567-018-0197-6</a:t>
            </a:r>
          </a:p>
          <a:p xmlns:a="http://schemas.openxmlformats.org/drawingml/2006/main">
            <a:r>
              <a:t>Each κ± divides corrected measured gravitational phase by a prediction from that encoding's measured spectroscopic gap and an independently measured potential difference.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https://www.nature.com/articles/s41534-024-00898-7</a:t>
            </a:r>
          </a:p>
          <a:p xmlns:a="http://schemas.openxmlformats.org/drawingml/2006/main">
            <a:r>
              <a:t>https://chatgpt.com/share/6ab672dc-e820-83ea-a2a5-26643690422a</a:t>
            </a:r>
          </a:p>
          <a:p xmlns:a="http://schemas.openxmlformats.org/drawingml/2006/main">
            <a:r>
              <a:t>These are proposal gates. No integrated experiment or measured coefficients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https://chatgpt.com/share/6ab672dc-e820-83ea-a2a5-26643690422a</a:t>
            </a:r>
          </a:p>
          <a:p xmlns:a="http://schemas.openxmlformats.org/drawingml/2006/main">
            <a:r>
              <a:t>https://www.nature.com/articles/s41567-018-0197-6</a:t>
            </a:r>
          </a:p>
          <a:p xmlns:a="http://schemas.openxmlformats.org/drawingml/2006/main">
            <a:r>
              <a:t>This is a proposed test, not a measured closure. The conventional and quantum modes share the gravitational baseline but use distinct readouts.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c5a508b7f4c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6be092a8fe4028" /><Relationship Type="http://schemas.openxmlformats.org/officeDocument/2006/relationships/slideLayout" Target="/ppt/slideLayouts/slideLayout1.xml" Id="Rbad210c1e25040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d210c1e25040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54ca35c1541d3" /><Relationship Type="http://schemas.openxmlformats.org/officeDocument/2006/relationships/image" Target="/ppt/media/image.png" Id="R55331036062e46df" /><Relationship Type="http://schemas.openxmlformats.org/officeDocument/2006/relationships/notesSlide" Target="/ppt/notesSlides/notesSlide1.xml" Id="R43b84f88f78a45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75aaab4f1419d" /><Relationship Type="http://schemas.openxmlformats.org/officeDocument/2006/relationships/notesSlide" Target="/ppt/notesSlides/notesSlide2.xml" Id="Rf1154f54b4a0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d609fc8bb4456" /><Relationship Type="http://schemas.openxmlformats.org/officeDocument/2006/relationships/notesSlide" Target="/ppt/notesSlides/notesSlide3.xml" Id="R6b7682787d0f44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3b72dd6243a5" /><Relationship Type="http://schemas.openxmlformats.org/officeDocument/2006/relationships/notesSlide" Target="/ppt/notesSlides/notesSlide4.xml" Id="R1f1e732999e741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9ecc8efee4b45" /><Relationship Type="http://schemas.openxmlformats.org/officeDocument/2006/relationships/notesSlide" Target="/ppt/notesSlides/notesSlide5.xml" Id="R3df0e2ff77df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0cf1fba0d4336" /><Relationship Type="http://schemas.openxmlformats.org/officeDocument/2006/relationships/notesSlide" Target="/ppt/notesSlides/notesSlide6.xml" Id="R3dfa8baf5e394b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cd8968de4543" /><Relationship Type="http://schemas.openxmlformats.org/officeDocument/2006/relationships/notesSlide" Target="/ppt/notesSlides/notesSlide7.xml" Id="R3faf04d62d5c48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3d3cd5aed48e2" /><Relationship Type="http://schemas.openxmlformats.org/officeDocument/2006/relationships/notesSlide" Target="/ppt/notesSlides/notesSlide8.xml" Id="R0cf9041e5fa34c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be1936bcd482a" /><Relationship Type="http://schemas.openxmlformats.org/officeDocument/2006/relationships/notesSlide" Target="/ppt/notesSlides/notesSlide9.xml" Id="R1cee72869bdf4b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71fda3a6b414c" /><Relationship Type="http://schemas.openxmlformats.org/officeDocument/2006/relationships/notesSlide" Target="/ppt/notesSlides/notesSlide10.xml" Id="R9696733e823d4c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ece16f1234732" /><Relationship Type="http://schemas.openxmlformats.org/officeDocument/2006/relationships/notesSlide" Target="/ppt/notesSlides/notesSlide11.xml" Id="Rc7d656ebd1304d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7cc69b02841e6" /><Relationship Type="http://schemas.openxmlformats.org/officeDocument/2006/relationships/notesSlide" Target="/ppt/notesSlides/notesSlide12.xml" Id="Rb7f9da7bd261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31036062e46d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ED05A-BB8A-4742-AF1A-E975ECF2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Explorations of the potential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spin–gravity dimensionless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E4379-F12F-4AD6-BAE1-0C2D6BD7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9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9F2"/>
                </a:solidFill>
                <a:latin typeface="Arial"/>
                <a:ea typeface="Arial"/>
                <a:cs typeface="Arial"/>
              </a:rPr>
              <a:t>A terrestrial ytterbium-171 clock experiment proposal</a:t>
            </a:r>
          </a:p>
        </p:txBody>
      </p:sp>
    </p:spTree>
    <p:extLst>
      <p:ext uri="{BB962C8B-B14F-4D97-AF65-F5344CB8AC3E}">
        <p14:creationId xmlns:p14="http://schemas.microsoft.com/office/powerpoint/2010/main" val="597646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1A3E8-E60B-4234-A0BF-D5432D8F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The question behind the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3C318-E726-4D98-8270-D564554F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20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How do correlations inside an atom participate in gravitationally sensitive quantum interference?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5CB81-0189-4316-8E15-71CC4A9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062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The proposed test uses two stationary atoms. One optical excitation is coherently shared between their locations, while its association with nuclear spin is reversed between preparations.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3AF37-9EB9-4048-9A77-4050D7E4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62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The atoms remain trapped at separate stations. The test concerns distributed internal-state coherence.</a:t>
            </a:r>
          </a:p>
        </p:txBody>
      </p:sp>
    </p:spTree>
    <p:extLst>
      <p:ext uri="{BB962C8B-B14F-4D97-AF65-F5344CB8AC3E}">
        <p14:creationId xmlns:p14="http://schemas.microsoft.com/office/powerpoint/2010/main" val="983669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C5608-C2FA-47C0-8C8F-229A087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Why use a building-scale height difference?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E7E09-4432-4E17-8F33-58BA30B3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At 1 cm for 10 s, the ideal phase difference is only 0.0355 rad. A 1% response test would need about 5.66 μHz control of differential-frequency bias.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04850" y="2333625"/>
          <a:ext xmlns:a="http://schemas.openxmlformats.org/drawingml/2006/main" cx="10782300" cy="33051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4095750"/>
                <a:gridCol w="3543300"/>
              </a:tblGrid>
              <a:tr h="5508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Vertical separation</a:t>
                      </a:r>
                    </a:p>
                  </a:txBody>
                  <a:tcPr marL="91440" marR="91440" marT="45720" marB="4572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Yb-171 frequency difference</a:t>
                      </a:r>
                    </a:p>
                  </a:txBody>
                  <a:tcPr marL="91440" marR="91440" marT="45720" marB="4572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 for 0.5 rad</a:t>
                      </a:r>
                    </a:p>
                  </a:txBody>
                  <a:tcPr marL="91440" marR="91440" marT="45720" marB="45720">
                    <a:solidFill>
                      <a:srgbClr val="102238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 cm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0.000566 Hz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141 s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0.0566 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1.41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10 m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0.566 Hz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0.141 s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5.66 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0.0141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450 m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25.4 Hz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0.00313 s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E725B-03AB-4871-8F79-F4B7FF8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Calculated stationary-clock examples. Each clock behaves normally in its local laboratory.</a:t>
            </a:r>
          </a:p>
        </p:txBody>
      </p:sp>
    </p:spTree>
    <p:extLst>
      <p:ext uri="{BB962C8B-B14F-4D97-AF65-F5344CB8AC3E}">
        <p14:creationId xmlns:p14="http://schemas.microsoft.com/office/powerpoint/2010/main" val="1512910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A3FE6-788E-47AC-BC22-FED98051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A terrestrial redshift benchmark already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CBE4D-002D-4B12-B770-E32F3298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Tokyo Skytree compared two transportable strontium optical lattice clocks across about 450 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18BAC-285C-44DE-978D-EE942BA0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9.1 × 10⁻⁵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6EFAD-E896-4D64-8B81-8A8645C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Relative uncertainty in its gravitational redshift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7E51D-4653-45F2-9C66-6A4AED86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62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The proposed ytterbium correlation mode adds a different measurement. The Skytree clocks were not entangled.</a:t>
            </a:r>
          </a:p>
        </p:txBody>
      </p:sp>
    </p:spTree>
    <p:extLst>
      <p:ext uri="{BB962C8B-B14F-4D97-AF65-F5344CB8AC3E}">
        <p14:creationId xmlns:p14="http://schemas.microsoft.com/office/powerpoint/2010/main" val="567009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D3BF6-1A82-4AD5-B12A-D422F7D9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Two modes at the same gravitational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CA673-7ECA-4539-B6F9-F77BBAD8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Conventional clock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CC8AE-BF8E-4E55-A682-77777B1F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9053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Compare two unentangled optical clocks through a stabilized frequency-transfer link. This measures the ordinary gravitational frequency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93917-C2F5-41AD-A2F0-0D9C3881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Distributed quantum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04B9C-4759-41DA-BBE7-21F29289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49530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Use a photon-mediated protocol to prepare entangled atoms at the two stations. Joint measurements read the phase of their shared optical excitation.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48B10-B08F-4B97-A2E3-E293F13A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1062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 stable phase-reference link and an entanglement-generation link perform different functions.</a:t>
            </a:r>
          </a:p>
        </p:txBody>
      </p:sp>
    </p:spTree>
    <p:extLst>
      <p:ext uri="{BB962C8B-B14F-4D97-AF65-F5344CB8AC3E}">
        <p14:creationId xmlns:p14="http://schemas.microsoft.com/office/powerpoint/2010/main" val="880440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B4F42-63C9-4103-9218-494433FE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Operating scales for the terrestrial design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107823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33875"/>
                <a:gridCol w="3219450"/>
                <a:gridCol w="3228975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 m separation</a:t>
                      </a:r>
                    </a:p>
                  </a:txBody>
                  <a:tcPr marL="91440" marR="91440" marT="45720" marB="4572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100 m separation</a:t>
                      </a:r>
                    </a:p>
                  </a:txBody>
                  <a:tcPr marL="91440" marR="91440" marT="45720" marB="45720">
                    <a:solidFill>
                      <a:srgbClr val="10223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Assumed potential difference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98.0665 m²/s²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980.665 m²/s²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Fractional clock-rate difference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1.0911 × 10⁻¹⁵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1.0911 × 10⁻¹⁴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Differential clock frequency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0.5655 Hz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5.6553 Hz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Relative phase after 1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3.5533 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35.5334 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Time for 0.5 rad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140.7 ms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3D"/>
                          </a:solidFill>
                          <a:latin typeface="Arial"/>
                          <a:ea typeface="Arial"/>
                          <a:cs typeface="Arial"/>
                        </a:rPr>
                        <a:t>14.07 ms</a:t>
                      </a:r>
                    </a:p>
                  </a:txBody>
                  <a:tcPr marL="91440" marR="91440" marT="45720" marB="45720"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E2980-8C53-4EC6-8991-7FF5CC0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0620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The 100 m, 1 s phase spans more than five full cycles. Phase tracking must resolve the cycle count.</a:t>
            </a:r>
          </a:p>
        </p:txBody>
      </p:sp>
    </p:spTree>
    <p:extLst>
      <p:ext uri="{BB962C8B-B14F-4D97-AF65-F5344CB8AC3E}">
        <p14:creationId xmlns:p14="http://schemas.microsoft.com/office/powerpoint/2010/main" val="130564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CB322-6059-4252-AFE5-6F1FA9B0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Opposite energy–spin correlations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E613C-6321-4744-8878-F957226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Each atom has a ground and excited optical clock level, plus two nuclear-spin projections.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CEE9E-48A8-4A65-A853-22B33184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Preparation 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5947A-6CA1-490B-8103-0BB42ED7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Excitation travels with spin up; the ground state carries spin down.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1AD5A-3E80-47FA-8A03-A6C5844C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Preparation 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C4E8-AA1B-46DB-BA2E-A1BC50D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575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Excitation travels with spin down; the ground state carries spin 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A6FD2-CE4D-4ED4-99BC-5E215A3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0620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Both states contain one excitation and have the same local energy and spin populations.</a:t>
            </a:r>
          </a:p>
        </p:txBody>
      </p:sp>
    </p:spTree>
    <p:extLst>
      <p:ext uri="{BB962C8B-B14F-4D97-AF65-F5344CB8AC3E}">
        <p14:creationId xmlns:p14="http://schemas.microsoft.com/office/powerpoint/2010/main" val="5965757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B580A-3DB6-425D-95D2-A6A4C5A8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Gravity changes the relative clock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9663D-361B-4E82-A86A-5AA6EC5A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Δν/ν₀ = ΔU/c²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36559-3A8D-432D-99CA-981D445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x = (ΔE/ℏ) Δτ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A1A97-3618-466F-B3FB-EEB6ABD5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106203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The alternative with the excitation higher in the building evolves relative to the alternative with the excitation lower down. Spectroscopy fixes ΔE. An independent potential survey fixes the predicted Δτ.</a:t>
            </a:r>
          </a:p>
        </p:txBody>
      </p:sp>
    </p:spTree>
    <p:extLst>
      <p:ext uri="{BB962C8B-B14F-4D97-AF65-F5344CB8AC3E}">
        <p14:creationId xmlns:p14="http://schemas.microsoft.com/office/powerpoint/2010/main" val="2118626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2AD3C-4A06-44C6-957B-8C01534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Joint measurements reveal the shared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81EFF-60B1-4C2E-86A1-055562C3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62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Calibrated local analysis pulses turn the relative phase into matching or different joint outcomes. Excitation counts alone cannot reveal that phase.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B41CD-12CB-4849-AD2B-802B15D3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06203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Measurements in complementary bases test the shared Bell coherence. The same populations could also come from an incoherent mixture.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34BF1-DC3E-4EBF-8DCB-0A805F4C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Field shifts, trapping light, link phase, and readout bias must enter the uncertainty model.</a:t>
            </a:r>
          </a:p>
        </p:txBody>
      </p:sp>
    </p:spTree>
    <p:extLst>
      <p:ext uri="{BB962C8B-B14F-4D97-AF65-F5344CB8AC3E}">
        <p14:creationId xmlns:p14="http://schemas.microsoft.com/office/powerpoint/2010/main" val="1214855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9B4E6-3A8B-4B53-8414-E0666BE4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Three dimensionless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CA4B3-4E0A-442D-AD92-EC05ADC9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κcl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D6408-EEF9-4E30-B8CB-FEE83A2A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43125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Conventional clock redshift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2F628-9B74-4A03-9144-36733FD2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763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κ₀ = (κ₊ + κ₋)/2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734DC-F522-4401-BB64-AFABC9A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5667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Mean correlated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05637-E5FB-4D98-A7CE-468046DE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ηES = (κ₊ − κ₋)/2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68E3A-0D5E-46FD-8770-3AC3FD09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Correlation-dependent half-difference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F15AF-70A3-4F97-8C36-04733325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Standard prediction: κcl = 1, κ₀ = 1, ηES = 0. These are test coefficients, not established new constants.</a:t>
            </a:r>
          </a:p>
        </p:txBody>
      </p:sp>
    </p:spTree>
    <p:extLst>
      <p:ext uri="{BB962C8B-B14F-4D97-AF65-F5344CB8AC3E}">
        <p14:creationId xmlns:p14="http://schemas.microsoft.com/office/powerpoint/2010/main" val="1705053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20271-013B-459B-A2B9-0B96C13B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What a credible measurement requires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F2F1E-7D76-47AE-8F06-9005334C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0175"/>
            <a:ext cx="10620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Independent geometry and gravimetry define the potential. Spectroscopy measures each encoding's true energy gap.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BAF13-E2EF-4A4C-A529-029BB73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10620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A height scan helps separate gravitational slope from a height-independent frequency offset. Height-dependent field shifts still need calibration.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61492-CADC-4417-B003-11C14A2B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0620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Complementary-basis measurements verify Bell coherence. Blinded confirmatory data and a retained covariance model test the fitted response.</a:t>
            </a:r>
          </a:p>
        </p:txBody>
      </p:sp>
    </p:spTree>
    <p:extLst>
      <p:ext uri="{BB962C8B-B14F-4D97-AF65-F5344CB8AC3E}">
        <p14:creationId xmlns:p14="http://schemas.microsoft.com/office/powerpoint/2010/main" val="14658037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EEC46-B05A-42C7-A634-88DC050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06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8"/>
                </a:solidFill>
                <a:latin typeface="Arial"/>
                <a:ea typeface="Arial"/>
                <a:cs typeface="Arial"/>
              </a:rPr>
              <a:t>The proposed closure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9DAC0-1FB6-49C6-A606-9AF20101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062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One consistent response should describe the ordinary clock comparison and both opposite energy–spin preparations.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A0950-4C83-4FAF-992C-08C2932C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κcl ≈ 1     κ₀ ≈ 1     ηES ≈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0E2F8-7A1C-4B5E-AB5A-277C21FB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1062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A residual ηES would call for replicated controls before any new gravitational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90580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2026-09-25T13:39:32.6710000Z</dcterms:created>
  <dcterms:modified xsi:type="dcterms:W3CDTF">2026-09-25T13:39:32.6710000Z</dcterms:modified>
</coreProperties>
</file>